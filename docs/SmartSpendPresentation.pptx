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0" r:id="rId5"/>
    <p:sldMasterId id="2147483807" r:id="rId6"/>
    <p:sldMasterId id="2147483866" r:id="rId7"/>
  </p:sldMasterIdLst>
  <p:notesMasterIdLst>
    <p:notesMasterId r:id="rId15"/>
  </p:notesMasterIdLst>
  <p:handoutMasterIdLst>
    <p:handoutMasterId r:id="rId16"/>
  </p:handoutMasterIdLst>
  <p:sldIdLst>
    <p:sldId id="272" r:id="rId8"/>
    <p:sldId id="273" r:id="rId9"/>
    <p:sldId id="274" r:id="rId10"/>
    <p:sldId id="275" r:id="rId11"/>
    <p:sldId id="276" r:id="rId12"/>
    <p:sldId id="277"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DF9B"/>
    <a:srgbClr val="F2ECE5"/>
    <a:srgbClr val="14265E"/>
    <a:srgbClr val="FF7E79"/>
    <a:srgbClr val="0A1533"/>
    <a:srgbClr val="00061A"/>
    <a:srgbClr val="6C98C7"/>
    <a:srgbClr val="000000"/>
    <a:srgbClr val="000619"/>
    <a:srgbClr val="0937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1" autoAdjust="0"/>
    <p:restoredTop sz="77572" autoAdjust="0"/>
  </p:normalViewPr>
  <p:slideViewPr>
    <p:cSldViewPr snapToGrid="0" showGuides="1">
      <p:cViewPr varScale="1">
        <p:scale>
          <a:sx n="107" d="100"/>
          <a:sy n="107" d="100"/>
        </p:scale>
        <p:origin x="758" y="91"/>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3E049B-39F8-44D4-9B8F-42AD3D16F7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3BBCFE28-325F-4C3C-8F0D-A0AE517A97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71F9AD-7D37-4888-8B9B-781FD21B16BF}" type="datetimeFigureOut">
              <a:rPr lang="en-AU" smtClean="0"/>
              <a:t>18/05/2026</a:t>
            </a:fld>
            <a:endParaRPr lang="en-AU"/>
          </a:p>
        </p:txBody>
      </p:sp>
      <p:sp>
        <p:nvSpPr>
          <p:cNvPr id="4" name="Footer Placeholder 3">
            <a:extLst>
              <a:ext uri="{FF2B5EF4-FFF2-40B4-BE49-F238E27FC236}">
                <a16:creationId xmlns:a16="http://schemas.microsoft.com/office/drawing/2014/main" id="{4C8CE3B7-0672-4B57-9D30-D10D7E5C51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CBF396D-B88A-41A2-AA38-FD006DE099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AFDE8F-C651-4379-A3B3-52F461E28252}" type="slidenum">
              <a:rPr lang="en-AU" smtClean="0"/>
              <a:t>‹#›</a:t>
            </a:fld>
            <a:endParaRPr lang="en-AU"/>
          </a:p>
        </p:txBody>
      </p:sp>
    </p:spTree>
    <p:extLst>
      <p:ext uri="{BB962C8B-B14F-4D97-AF65-F5344CB8AC3E}">
        <p14:creationId xmlns:p14="http://schemas.microsoft.com/office/powerpoint/2010/main" val="1343053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9A025-9A62-48B8-80D3-02C5887C5AA6}" type="datetimeFigureOut">
              <a:rPr lang="en-AU" smtClean="0"/>
              <a:t>18/05/2026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ED44F-8DE0-4245-B02B-CC95FDAC3EA9}" type="slidenum">
              <a:rPr lang="en-AU" smtClean="0"/>
              <a:t>‹#›</a:t>
            </a:fld>
            <a:endParaRPr lang="en-AU"/>
          </a:p>
        </p:txBody>
      </p:sp>
    </p:spTree>
    <p:extLst>
      <p:ext uri="{BB962C8B-B14F-4D97-AF65-F5344CB8AC3E}">
        <p14:creationId xmlns:p14="http://schemas.microsoft.com/office/powerpoint/2010/main" val="105593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Use this slide to clearly frame the project before discussing how you worked or what you built. Briefly describe the problem your team aimed to address and explain why it was worth solving. Avoid technical detail here: focus on the motivation and context.</a:t>
            </a:r>
          </a:p>
          <a:p>
            <a:endParaRPr lang="en-AU" dirty="0"/>
          </a:p>
          <a:p>
            <a:r>
              <a:rPr lang="en-AU" dirty="0"/>
              <a:t>Introduce the intended users of your system and outline their needs, expectations, or challenges as you understood them at the start of the project. This helps the audience understand who the system is for and why certain decisions later in the presentation were made.</a:t>
            </a:r>
          </a:p>
          <a:p>
            <a:endParaRPr lang="en-AU" dirty="0"/>
          </a:p>
          <a:p>
            <a:r>
              <a:rPr lang="en-AU" dirty="0"/>
              <a:t>Your goal is to establish a shared understanding of what success would look like for this project. This context will anchor later discussion of development practices, teamwork, and quality.</a:t>
            </a:r>
          </a:p>
        </p:txBody>
      </p:sp>
      <p:sp>
        <p:nvSpPr>
          <p:cNvPr id="4" name="Slide Number Placeholder 3"/>
          <p:cNvSpPr>
            <a:spLocks noGrp="1"/>
          </p:cNvSpPr>
          <p:nvPr>
            <p:ph type="sldNum" sz="quarter" idx="5"/>
          </p:nvPr>
        </p:nvSpPr>
        <p:spPr/>
        <p:txBody>
          <a:bodyPr/>
          <a:lstStyle/>
          <a:p>
            <a:fld id="{BAAED44F-8DE0-4245-B02B-CC95FDAC3EA9}" type="slidenum">
              <a:rPr lang="en-AU" smtClean="0"/>
              <a:t>2</a:t>
            </a:fld>
            <a:endParaRPr lang="en-AU"/>
          </a:p>
        </p:txBody>
      </p:sp>
    </p:spTree>
    <p:extLst>
      <p:ext uri="{BB962C8B-B14F-4D97-AF65-F5344CB8AC3E}">
        <p14:creationId xmlns:p14="http://schemas.microsoft.com/office/powerpoint/2010/main" val="4206713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a:p>
            <a:r>
              <a:rPr lang="en-AU" dirty="0"/>
              <a:t>Use this slide to explain how your team functioned over time, not just how tasks were divided. </a:t>
            </a:r>
          </a:p>
          <a:p>
            <a:endParaRPr lang="en-AU" dirty="0"/>
          </a:p>
          <a:p>
            <a:r>
              <a:rPr lang="en-AU" dirty="0"/>
              <a:t>Discuss how you collaborated, communicated, coordinated work, and supported one another throughout the semester.</a:t>
            </a:r>
          </a:p>
          <a:p>
            <a:endParaRPr lang="en-AU" dirty="0"/>
          </a:p>
          <a:p>
            <a:r>
              <a:rPr lang="en-AU" dirty="0"/>
              <a:t>Strong presentations describe teamwork as an ongoing system of professional practice, rather than a list of individual responsibilities. You may wish to discuss roles, shared ownership, meetings, routines, or communication practices that shaped how your team worked.</a:t>
            </a:r>
          </a:p>
          <a:p>
            <a:endParaRPr lang="en-AU" dirty="0"/>
          </a:p>
          <a:p>
            <a:r>
              <a:rPr lang="en-AU" dirty="0"/>
              <a:t>Where relevant, reflect on how your team adapted to challenges or changed its way of working. This helps demonstrate learning and maturity in understanding how effective teams operate in practice.</a:t>
            </a:r>
          </a:p>
          <a:p>
            <a:endParaRPr lang="en-AU" dirty="0"/>
          </a:p>
        </p:txBody>
      </p:sp>
      <p:sp>
        <p:nvSpPr>
          <p:cNvPr id="4" name="Slide Number Placeholder 3"/>
          <p:cNvSpPr>
            <a:spLocks noGrp="1"/>
          </p:cNvSpPr>
          <p:nvPr>
            <p:ph type="sldNum" sz="quarter" idx="5"/>
          </p:nvPr>
        </p:nvSpPr>
        <p:spPr/>
        <p:txBody>
          <a:bodyPr/>
          <a:lstStyle/>
          <a:p>
            <a:fld id="{BAAED44F-8DE0-4245-B02B-CC95FDAC3EA9}" type="slidenum">
              <a:rPr lang="en-AU" smtClean="0"/>
              <a:t>3</a:t>
            </a:fld>
            <a:endParaRPr lang="en-AU"/>
          </a:p>
        </p:txBody>
      </p:sp>
    </p:spTree>
    <p:extLst>
      <p:ext uri="{BB962C8B-B14F-4D97-AF65-F5344CB8AC3E}">
        <p14:creationId xmlns:p14="http://schemas.microsoft.com/office/powerpoint/2010/main" val="3198048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This slide should explain how you approached development and the reasoning behind key choices. </a:t>
            </a:r>
          </a:p>
          <a:p>
            <a:endParaRPr lang="en-AU" dirty="0"/>
          </a:p>
          <a:p>
            <a:r>
              <a:rPr lang="en-AU" dirty="0"/>
              <a:t>Describe the agile practices, processes, or ways of working you adopted, and explain why these were appropriate for your project and team.</a:t>
            </a:r>
          </a:p>
          <a:p>
            <a:endParaRPr lang="en-AU" dirty="0"/>
          </a:p>
          <a:p>
            <a:r>
              <a:rPr lang="en-AU" dirty="0"/>
              <a:t>You may also highlight important technical or design decisions and how they aligned with your development approach. </a:t>
            </a:r>
          </a:p>
          <a:p>
            <a:endParaRPr lang="en-AU" dirty="0"/>
          </a:p>
          <a:p>
            <a:r>
              <a:rPr lang="en-AU" dirty="0"/>
              <a:t>Focus on why these choices made sense in context, rather than listing tools or frameworks.</a:t>
            </a:r>
          </a:p>
          <a:p>
            <a:endParaRPr lang="en-AU" dirty="0"/>
          </a:p>
          <a:p>
            <a:r>
              <a:rPr lang="en-AU" dirty="0"/>
              <a:t>Stronger presentations show how development practices, technical decisions, and team capabilities influenced one another, rather than treating them as separate concerns.</a:t>
            </a:r>
          </a:p>
        </p:txBody>
      </p:sp>
      <p:sp>
        <p:nvSpPr>
          <p:cNvPr id="4" name="Slide Number Placeholder 3"/>
          <p:cNvSpPr>
            <a:spLocks noGrp="1"/>
          </p:cNvSpPr>
          <p:nvPr>
            <p:ph type="sldNum" sz="quarter" idx="5"/>
          </p:nvPr>
        </p:nvSpPr>
        <p:spPr/>
        <p:txBody>
          <a:bodyPr/>
          <a:lstStyle/>
          <a:p>
            <a:fld id="{BAAED44F-8DE0-4245-B02B-CC95FDAC3EA9}" type="slidenum">
              <a:rPr lang="en-AU" smtClean="0"/>
              <a:t>4</a:t>
            </a:fld>
            <a:endParaRPr lang="en-AU"/>
          </a:p>
        </p:txBody>
      </p:sp>
    </p:spTree>
    <p:extLst>
      <p:ext uri="{BB962C8B-B14F-4D97-AF65-F5344CB8AC3E}">
        <p14:creationId xmlns:p14="http://schemas.microsoft.com/office/powerpoint/2010/main" val="1005450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Use this slide to discuss what quality meant for your project, taking a broad view.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Quality can be viewed from multiple perspectives. Strong presentations show an understanding that system quality is multifaceted and is shaped by technical decisions, development practices, teamwork, and how users interact with the system. Consider how process, collaboration, design, usability, clarity, documentation, and interaction all contributed to the system as a whole.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Explain how user considerations influenced design and evaluation but also reflect on how development practices and teamwork supported or constrained quality.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This is an opportunity to show integrated thinking about quality across multiple dimensions. More sophisticated presentations demonstrate that quality is sustained throughout the process, not something assessed or added at the 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endParaRPr lang="en-AU" dirty="0"/>
          </a:p>
        </p:txBody>
      </p:sp>
      <p:sp>
        <p:nvSpPr>
          <p:cNvPr id="4" name="Slide Number Placeholder 3"/>
          <p:cNvSpPr>
            <a:spLocks noGrp="1"/>
          </p:cNvSpPr>
          <p:nvPr>
            <p:ph type="sldNum" sz="quarter" idx="5"/>
          </p:nvPr>
        </p:nvSpPr>
        <p:spPr/>
        <p:txBody>
          <a:bodyPr/>
          <a:lstStyle/>
          <a:p>
            <a:fld id="{BAAED44F-8DE0-4245-B02B-CC95FDAC3EA9}" type="slidenum">
              <a:rPr lang="en-AU" smtClean="0"/>
              <a:t>5</a:t>
            </a:fld>
            <a:endParaRPr lang="en-AU"/>
          </a:p>
        </p:txBody>
      </p:sp>
    </p:spTree>
    <p:extLst>
      <p:ext uri="{BB962C8B-B14F-4D97-AF65-F5344CB8AC3E}">
        <p14:creationId xmlns:p14="http://schemas.microsoft.com/office/powerpoint/2010/main" val="766406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Conclude your presentation by reflecting on what you learned through the project.  Use this topic to reflect on your experience and demonstrate what you have learned as a developing software professional.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Focus on insights related to teamwork, development practices, quality, or professional ways of 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You may discuss challenges, setbacks, or successes, and explain how these experiences shaped your understanding of effective software development in a team context.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Avoid simply repeating earlier points, and rather aim to synthesise and reflect.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kern="1200" dirty="0">
                <a:solidFill>
                  <a:schemeClr val="tx1"/>
                </a:solidFill>
                <a:effectLst/>
                <a:latin typeface="+mn-lt"/>
                <a:ea typeface="+mn-ea"/>
                <a:cs typeface="+mn-cs"/>
              </a:rPr>
              <a:t>Stronger reflections show how learning from this project would influence how you would approach future projects or professional practice.</a:t>
            </a:r>
          </a:p>
          <a:p>
            <a:endParaRPr lang="en-AU" dirty="0"/>
          </a:p>
        </p:txBody>
      </p:sp>
      <p:sp>
        <p:nvSpPr>
          <p:cNvPr id="4" name="Slide Number Placeholder 3"/>
          <p:cNvSpPr>
            <a:spLocks noGrp="1"/>
          </p:cNvSpPr>
          <p:nvPr>
            <p:ph type="sldNum" sz="quarter" idx="5"/>
          </p:nvPr>
        </p:nvSpPr>
        <p:spPr/>
        <p:txBody>
          <a:bodyPr/>
          <a:lstStyle/>
          <a:p>
            <a:fld id="{BAAED44F-8DE0-4245-B02B-CC95FDAC3EA9}" type="slidenum">
              <a:rPr lang="en-AU" smtClean="0"/>
              <a:t>6</a:t>
            </a:fld>
            <a:endParaRPr lang="en-AU"/>
          </a:p>
        </p:txBody>
      </p:sp>
    </p:spTree>
    <p:extLst>
      <p:ext uri="{BB962C8B-B14F-4D97-AF65-F5344CB8AC3E}">
        <p14:creationId xmlns:p14="http://schemas.microsoft.com/office/powerpoint/2010/main" val="2335821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This slide should remain visible during questions and answers. It should simply and clearly indicate each team member’s primary areas of contribution.</a:t>
            </a:r>
          </a:p>
          <a:p>
            <a:endParaRPr lang="en-AU" dirty="0"/>
          </a:p>
          <a:p>
            <a:r>
              <a:rPr lang="en-AU" dirty="0"/>
              <a:t>This slide is not assessed and should be factual and concise. Its purpose is to support discussion and individual questioning, not to justify contributions or performance.</a:t>
            </a:r>
          </a:p>
        </p:txBody>
      </p:sp>
      <p:sp>
        <p:nvSpPr>
          <p:cNvPr id="4" name="Slide Number Placeholder 3"/>
          <p:cNvSpPr>
            <a:spLocks noGrp="1"/>
          </p:cNvSpPr>
          <p:nvPr>
            <p:ph type="sldNum" sz="quarter" idx="5"/>
          </p:nvPr>
        </p:nvSpPr>
        <p:spPr/>
        <p:txBody>
          <a:bodyPr/>
          <a:lstStyle/>
          <a:p>
            <a:fld id="{BAAED44F-8DE0-4245-B02B-CC95FDAC3EA9}" type="slidenum">
              <a:rPr lang="en-AU" smtClean="0"/>
              <a:t>7</a:t>
            </a:fld>
            <a:endParaRPr lang="en-AU"/>
          </a:p>
        </p:txBody>
      </p:sp>
    </p:spTree>
    <p:extLst>
      <p:ext uri="{BB962C8B-B14F-4D97-AF65-F5344CB8AC3E}">
        <p14:creationId xmlns:p14="http://schemas.microsoft.com/office/powerpoint/2010/main" val="37812174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_A">
    <p:spTree>
      <p:nvGrpSpPr>
        <p:cNvPr id="1" name=""/>
        <p:cNvGrpSpPr/>
        <p:nvPr/>
      </p:nvGrpSpPr>
      <p:grpSpPr>
        <a:xfrm>
          <a:off x="0" y="0"/>
          <a:ext cx="0" cy="0"/>
          <a:chOff x="0" y="0"/>
          <a:chExt cx="0" cy="0"/>
        </a:xfrm>
      </p:grpSpPr>
      <p:pic>
        <p:nvPicPr>
          <p:cNvPr id="2" name="Picture 1" descr="A blue and white map  AI-generated content may be incorrect.">
            <a:extLst>
              <a:ext uri="{FF2B5EF4-FFF2-40B4-BE49-F238E27FC236}">
                <a16:creationId xmlns:a16="http://schemas.microsoft.com/office/drawing/2014/main" id="{93418D29-4639-05ED-D966-2DA6B8A9CAA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DE7D867A-A074-7690-D36E-A0E114D0B88F}"/>
              </a:ext>
              <a:ext uri="{C183D7F6-B498-43B3-948B-1728B52AA6E4}">
                <adec:decorative xmlns:adec="http://schemas.microsoft.com/office/drawing/2017/decorative" val="1"/>
              </a:ext>
            </a:extLst>
          </p:cNvPr>
          <p:cNvSpPr>
            <a:spLocks noGrp="1"/>
          </p:cNvSpPr>
          <p:nvPr>
            <p:ph type="body" sz="quarter" idx="10" hasCustomPrompt="1"/>
          </p:nvPr>
        </p:nvSpPr>
        <p:spPr>
          <a:xfrm>
            <a:off x="597420" y="5604510"/>
            <a:ext cx="7380287" cy="933450"/>
          </a:xfrm>
          <a:prstGeom prst="rect">
            <a:avLst/>
          </a:prstGeo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4" name="Subtitle 2">
            <a:extLst>
              <a:ext uri="{FF2B5EF4-FFF2-40B4-BE49-F238E27FC236}">
                <a16:creationId xmlns:a16="http://schemas.microsoft.com/office/drawing/2014/main" id="{035D959A-5FBB-13CC-FAF8-4B34E5E8A8DB}"/>
              </a:ext>
              <a:ext uri="{C183D7F6-B498-43B3-948B-1728B52AA6E4}">
                <adec:decorative xmlns:adec="http://schemas.microsoft.com/office/drawing/2017/decorative" val="1"/>
              </a:ext>
            </a:extLst>
          </p:cNvPr>
          <p:cNvSpPr>
            <a:spLocks noGrp="1"/>
          </p:cNvSpPr>
          <p:nvPr>
            <p:ph type="subTitle" idx="1" hasCustomPrompt="1"/>
          </p:nvPr>
        </p:nvSpPr>
        <p:spPr>
          <a:xfrm>
            <a:off x="597420" y="5239156"/>
            <a:ext cx="7380370" cy="392650"/>
          </a:xfrm>
          <a:prstGeom prst="rect">
            <a:avLst/>
          </a:prstGeo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5" name="Title 1">
            <a:extLst>
              <a:ext uri="{FF2B5EF4-FFF2-40B4-BE49-F238E27FC236}">
                <a16:creationId xmlns:a16="http://schemas.microsoft.com/office/drawing/2014/main" id="{15B1BBA0-2C0C-55CC-86CE-C303784ED1C6}"/>
              </a:ext>
              <a:ext uri="{C183D7F6-B498-43B3-948B-1728B52AA6E4}">
                <adec:decorative xmlns:adec="http://schemas.microsoft.com/office/drawing/2017/decorative" val="1"/>
              </a:ext>
            </a:extLst>
          </p:cNvPr>
          <p:cNvSpPr>
            <a:spLocks noGrp="1"/>
          </p:cNvSpPr>
          <p:nvPr>
            <p:ph type="ctrTitle" hasCustomPrompt="1"/>
          </p:nvPr>
        </p:nvSpPr>
        <p:spPr>
          <a:xfrm>
            <a:off x="597420" y="3252427"/>
            <a:ext cx="7380370" cy="1904842"/>
          </a:xfrm>
          <a:prstGeom prst="rect">
            <a:avLst/>
          </a:prstGeom>
        </p:spPr>
        <p:txBody>
          <a:bodyPr anchor="b" anchorCtr="0">
            <a:normAutofit/>
          </a:bodyPr>
          <a:lstStyle>
            <a:lvl1pPr algn="l">
              <a:defRPr sz="5400" b="1">
                <a:solidFill>
                  <a:schemeClr val="bg1"/>
                </a:solidFill>
              </a:defRPr>
            </a:lvl1pPr>
          </a:lstStyle>
          <a:p>
            <a:r>
              <a:rPr lang="en-US" dirty="0"/>
              <a:t>Click to edit: Presentation Title</a:t>
            </a:r>
            <a:endParaRPr lang="en-AU" dirty="0"/>
          </a:p>
        </p:txBody>
      </p:sp>
      <p:sp>
        <p:nvSpPr>
          <p:cNvPr id="6" name="TextBox 5" descr="CRICOS No. 00213J">
            <a:extLst>
              <a:ext uri="{FF2B5EF4-FFF2-40B4-BE49-F238E27FC236}">
                <a16:creationId xmlns:a16="http://schemas.microsoft.com/office/drawing/2014/main" id="{D70E8C15-37D2-93CF-B51A-F6E3F6A44E14}"/>
              </a:ext>
            </a:extLst>
          </p:cNvPr>
          <p:cNvSpPr txBox="1">
            <a:spLocks/>
          </p:cNvSpPr>
          <p:nvPr userDrawn="1"/>
        </p:nvSpPr>
        <p:spPr>
          <a:xfrm>
            <a:off x="8575210" y="6537960"/>
            <a:ext cx="3176015" cy="182880"/>
          </a:xfrm>
          <a:prstGeom prst="rect">
            <a:avLst/>
          </a:prstGeom>
          <a:noFill/>
        </p:spPr>
        <p:txBody>
          <a:bodyPr wrap="square" rtlCol="0">
            <a:spAutoFit/>
          </a:bodyPr>
          <a:lstStyle/>
          <a:p>
            <a:pPr algn="r"/>
            <a:r>
              <a:rPr lang="en-AU" sz="600" dirty="0">
                <a:solidFill>
                  <a:schemeClr val="bg1">
                    <a:lumMod val="85000"/>
                  </a:schemeClr>
                </a:solidFill>
              </a:rPr>
              <a:t>TEQSA Provider ID PRV12079  Australian University | CRICOS No.00213J</a:t>
            </a:r>
          </a:p>
        </p:txBody>
      </p:sp>
    </p:spTree>
    <p:extLst>
      <p:ext uri="{BB962C8B-B14F-4D97-AF65-F5344CB8AC3E}">
        <p14:creationId xmlns:p14="http://schemas.microsoft.com/office/powerpoint/2010/main" val="352494613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_B">
    <p:spTree>
      <p:nvGrpSpPr>
        <p:cNvPr id="1" name=""/>
        <p:cNvGrpSpPr/>
        <p:nvPr/>
      </p:nvGrpSpPr>
      <p:grpSpPr>
        <a:xfrm>
          <a:off x="0" y="0"/>
          <a:ext cx="0" cy="0"/>
          <a:chOff x="0" y="0"/>
          <a:chExt cx="0" cy="0"/>
        </a:xfrm>
      </p:grpSpPr>
      <p:pic>
        <p:nvPicPr>
          <p:cNvPr id="2" name="Picture 1" descr="A blue and white background  AI-generated content may be incorrect.">
            <a:extLst>
              <a:ext uri="{FF2B5EF4-FFF2-40B4-BE49-F238E27FC236}">
                <a16:creationId xmlns:a16="http://schemas.microsoft.com/office/drawing/2014/main" id="{A3CD8D44-9064-673E-4846-8E323AF8DDA9}"/>
              </a:ext>
            </a:extLst>
          </p:cNvPr>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CE1C8AA1-7D58-D161-041D-B1D280B9D6E4}"/>
              </a:ext>
              <a:ext uri="{C183D7F6-B498-43B3-948B-1728B52AA6E4}">
                <adec:decorative xmlns:adec="http://schemas.microsoft.com/office/drawing/2017/decorative" val="1"/>
              </a:ext>
            </a:extLst>
          </p:cNvPr>
          <p:cNvSpPr>
            <a:spLocks noGrp="1"/>
          </p:cNvSpPr>
          <p:nvPr>
            <p:ph type="body" sz="quarter" idx="10" hasCustomPrompt="1"/>
          </p:nvPr>
        </p:nvSpPr>
        <p:spPr>
          <a:xfrm>
            <a:off x="435375" y="4308145"/>
            <a:ext cx="7380287" cy="933450"/>
          </a:xfrm>
          <a:prstGeom prst="rect">
            <a:avLst/>
          </a:prstGeo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6" name="Subtitle 2">
            <a:extLst>
              <a:ext uri="{FF2B5EF4-FFF2-40B4-BE49-F238E27FC236}">
                <a16:creationId xmlns:a16="http://schemas.microsoft.com/office/drawing/2014/main" id="{845F1638-3D96-5E6D-BCBA-D86CB9D30647}"/>
              </a:ext>
              <a:ext uri="{C183D7F6-B498-43B3-948B-1728B52AA6E4}">
                <adec:decorative xmlns:adec="http://schemas.microsoft.com/office/drawing/2017/decorative" val="1"/>
              </a:ext>
            </a:extLst>
          </p:cNvPr>
          <p:cNvSpPr>
            <a:spLocks noGrp="1"/>
          </p:cNvSpPr>
          <p:nvPr>
            <p:ph type="subTitle" idx="1" hasCustomPrompt="1"/>
          </p:nvPr>
        </p:nvSpPr>
        <p:spPr>
          <a:xfrm>
            <a:off x="435375" y="3942791"/>
            <a:ext cx="7380370" cy="392650"/>
          </a:xfrm>
          <a:prstGeom prst="rect">
            <a:avLst/>
          </a:prstGeo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F81F440D-A16F-2160-4C2F-2290BE5096B4}"/>
              </a:ext>
              <a:ext uri="{C183D7F6-B498-43B3-948B-1728B52AA6E4}">
                <adec:decorative xmlns:adec="http://schemas.microsoft.com/office/drawing/2017/decorative" val="1"/>
              </a:ext>
            </a:extLst>
          </p:cNvPr>
          <p:cNvSpPr>
            <a:spLocks noGrp="1"/>
          </p:cNvSpPr>
          <p:nvPr>
            <p:ph type="ctrTitle" hasCustomPrompt="1"/>
          </p:nvPr>
        </p:nvSpPr>
        <p:spPr>
          <a:xfrm>
            <a:off x="435375" y="1956062"/>
            <a:ext cx="7380370" cy="1904842"/>
          </a:xfrm>
          <a:prstGeom prst="rect">
            <a:avLst/>
          </a:prstGeom>
        </p:spPr>
        <p:txBody>
          <a:bodyPr anchor="b" anchorCtr="0">
            <a:normAutofit/>
          </a:bodyPr>
          <a:lstStyle>
            <a:lvl1pPr algn="l">
              <a:defRPr sz="5400" b="1">
                <a:solidFill>
                  <a:schemeClr val="bg1"/>
                </a:solidFill>
              </a:defRPr>
            </a:lvl1pPr>
          </a:lstStyle>
          <a:p>
            <a:r>
              <a:rPr lang="en-US" dirty="0"/>
              <a:t>Click to edit: Presentation Title</a:t>
            </a:r>
            <a:endParaRPr lang="en-AU" dirty="0"/>
          </a:p>
        </p:txBody>
      </p:sp>
      <p:sp>
        <p:nvSpPr>
          <p:cNvPr id="8" name="TextBox 7" descr="CRICOS No. 00213J">
            <a:extLst>
              <a:ext uri="{FF2B5EF4-FFF2-40B4-BE49-F238E27FC236}">
                <a16:creationId xmlns:a16="http://schemas.microsoft.com/office/drawing/2014/main" id="{29475686-1C99-DB35-38B7-86B66D7ADFD0}"/>
              </a:ext>
            </a:extLst>
          </p:cNvPr>
          <p:cNvSpPr txBox="1">
            <a:spLocks/>
          </p:cNvSpPr>
          <p:nvPr userDrawn="1"/>
        </p:nvSpPr>
        <p:spPr>
          <a:xfrm>
            <a:off x="8575210" y="6537960"/>
            <a:ext cx="3176015" cy="182880"/>
          </a:xfrm>
          <a:prstGeom prst="rect">
            <a:avLst/>
          </a:prstGeom>
          <a:noFill/>
        </p:spPr>
        <p:txBody>
          <a:bodyPr wrap="square" rtlCol="0">
            <a:spAutoFit/>
          </a:bodyPr>
          <a:lstStyle/>
          <a:p>
            <a:pPr algn="r"/>
            <a:r>
              <a:rPr lang="en-AU" sz="600" dirty="0">
                <a:solidFill>
                  <a:schemeClr val="bg1">
                    <a:lumMod val="85000"/>
                  </a:schemeClr>
                </a:solidFill>
              </a:rPr>
              <a:t>TEQSA Provider ID PRV12079  Australian University | CRICOS No.00213J</a:t>
            </a:r>
          </a:p>
        </p:txBody>
      </p:sp>
    </p:spTree>
    <p:extLst>
      <p:ext uri="{BB962C8B-B14F-4D97-AF65-F5344CB8AC3E}">
        <p14:creationId xmlns:p14="http://schemas.microsoft.com/office/powerpoint/2010/main" val="3611827443"/>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_C">
    <p:spTree>
      <p:nvGrpSpPr>
        <p:cNvPr id="1" name=""/>
        <p:cNvGrpSpPr/>
        <p:nvPr/>
      </p:nvGrpSpPr>
      <p:grpSpPr>
        <a:xfrm>
          <a:off x="0" y="0"/>
          <a:ext cx="0" cy="0"/>
          <a:chOff x="0" y="0"/>
          <a:chExt cx="0" cy="0"/>
        </a:xfrm>
      </p:grpSpPr>
      <p:pic>
        <p:nvPicPr>
          <p:cNvPr id="2" name="Picture 1" descr="A blue and white background  AI-generated content may be incorrect.">
            <a:extLst>
              <a:ext uri="{FF2B5EF4-FFF2-40B4-BE49-F238E27FC236}">
                <a16:creationId xmlns:a16="http://schemas.microsoft.com/office/drawing/2014/main" id="{C7AD6566-D794-6ED0-B1E5-BD8258764C42}"/>
              </a:ext>
            </a:extLst>
          </p:cNvPr>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5E05C0E0-69A4-2EB9-AE19-145F6CF520AC}"/>
              </a:ext>
              <a:ext uri="{C183D7F6-B498-43B3-948B-1728B52AA6E4}">
                <adec:decorative xmlns:adec="http://schemas.microsoft.com/office/drawing/2017/decorative" val="1"/>
              </a:ext>
            </a:extLst>
          </p:cNvPr>
          <p:cNvSpPr>
            <a:spLocks noGrp="1"/>
          </p:cNvSpPr>
          <p:nvPr>
            <p:ph type="body" sz="quarter" idx="10" hasCustomPrompt="1"/>
          </p:nvPr>
        </p:nvSpPr>
        <p:spPr>
          <a:xfrm>
            <a:off x="450119" y="4337914"/>
            <a:ext cx="7380287" cy="933450"/>
          </a:xfrm>
          <a:prstGeom prst="rect">
            <a:avLst/>
          </a:prstGeo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6" name="Subtitle 2">
            <a:extLst>
              <a:ext uri="{FF2B5EF4-FFF2-40B4-BE49-F238E27FC236}">
                <a16:creationId xmlns:a16="http://schemas.microsoft.com/office/drawing/2014/main" id="{403C3E7A-3929-4FA8-16E2-6EA315A80861}"/>
              </a:ext>
              <a:ext uri="{C183D7F6-B498-43B3-948B-1728B52AA6E4}">
                <adec:decorative xmlns:adec="http://schemas.microsoft.com/office/drawing/2017/decorative" val="1"/>
              </a:ext>
            </a:extLst>
          </p:cNvPr>
          <p:cNvSpPr>
            <a:spLocks noGrp="1"/>
          </p:cNvSpPr>
          <p:nvPr>
            <p:ph type="subTitle" idx="1" hasCustomPrompt="1"/>
          </p:nvPr>
        </p:nvSpPr>
        <p:spPr>
          <a:xfrm>
            <a:off x="450119" y="3972560"/>
            <a:ext cx="7380370" cy="392650"/>
          </a:xfrm>
          <a:prstGeom prst="rect">
            <a:avLst/>
          </a:prstGeo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C9874FDB-7073-6BF2-247D-2662ECB568D0}"/>
              </a:ext>
              <a:ext uri="{C183D7F6-B498-43B3-948B-1728B52AA6E4}">
                <adec:decorative xmlns:adec="http://schemas.microsoft.com/office/drawing/2017/decorative" val="1"/>
              </a:ext>
            </a:extLst>
          </p:cNvPr>
          <p:cNvSpPr>
            <a:spLocks noGrp="1"/>
          </p:cNvSpPr>
          <p:nvPr>
            <p:ph type="ctrTitle" hasCustomPrompt="1"/>
          </p:nvPr>
        </p:nvSpPr>
        <p:spPr>
          <a:xfrm>
            <a:off x="450119" y="1985831"/>
            <a:ext cx="7380370" cy="1904842"/>
          </a:xfrm>
          <a:prstGeom prst="rect">
            <a:avLst/>
          </a:prstGeom>
        </p:spPr>
        <p:txBody>
          <a:bodyPr anchor="b" anchorCtr="0">
            <a:normAutofit/>
          </a:bodyPr>
          <a:lstStyle>
            <a:lvl1pPr algn="l">
              <a:defRPr sz="5400" b="1">
                <a:solidFill>
                  <a:schemeClr val="bg1"/>
                </a:solidFill>
              </a:defRPr>
            </a:lvl1pPr>
          </a:lstStyle>
          <a:p>
            <a:r>
              <a:rPr lang="en-US" dirty="0"/>
              <a:t>Click to edit: Presentation Title</a:t>
            </a:r>
            <a:endParaRPr lang="en-AU" dirty="0"/>
          </a:p>
        </p:txBody>
      </p:sp>
      <p:sp>
        <p:nvSpPr>
          <p:cNvPr id="8" name="TextBox 7" descr="CRICOS No. 00213J">
            <a:extLst>
              <a:ext uri="{FF2B5EF4-FFF2-40B4-BE49-F238E27FC236}">
                <a16:creationId xmlns:a16="http://schemas.microsoft.com/office/drawing/2014/main" id="{8973D823-06D3-10E5-A950-448EA203A97E}"/>
              </a:ext>
            </a:extLst>
          </p:cNvPr>
          <p:cNvSpPr txBox="1">
            <a:spLocks/>
          </p:cNvSpPr>
          <p:nvPr userDrawn="1"/>
        </p:nvSpPr>
        <p:spPr>
          <a:xfrm>
            <a:off x="8575210" y="6537960"/>
            <a:ext cx="3176015" cy="182880"/>
          </a:xfrm>
          <a:prstGeom prst="rect">
            <a:avLst/>
          </a:prstGeom>
          <a:noFill/>
        </p:spPr>
        <p:txBody>
          <a:bodyPr wrap="square" rtlCol="0">
            <a:spAutoFit/>
          </a:bodyPr>
          <a:lstStyle/>
          <a:p>
            <a:pPr algn="r"/>
            <a:r>
              <a:rPr lang="en-AU" sz="600" dirty="0">
                <a:solidFill>
                  <a:schemeClr val="bg1">
                    <a:lumMod val="85000"/>
                  </a:schemeClr>
                </a:solidFill>
              </a:rPr>
              <a:t>TEQSA Provider ID PRV12079  Australian University | CRICOS No.00213J</a:t>
            </a:r>
          </a:p>
        </p:txBody>
      </p:sp>
    </p:spTree>
    <p:extLst>
      <p:ext uri="{BB962C8B-B14F-4D97-AF65-F5344CB8AC3E}">
        <p14:creationId xmlns:p14="http://schemas.microsoft.com/office/powerpoint/2010/main" val="761013058"/>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cknowledgement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7A58B-C86A-FD36-186B-F39534F88F9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61064513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Slide_A">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 uri="{C183D7F6-B498-43B3-948B-1728B52AA6E4}">
                <adec:decorative xmlns:adec="http://schemas.microsoft.com/office/drawing/2017/decorative" val="1"/>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p:nvPr>
        </p:nvSpPr>
        <p:spPr>
          <a:xfrm>
            <a:off x="468000" y="1800000"/>
            <a:ext cx="11232000" cy="3960000"/>
          </a:xfrm>
          <a:prstGeom prst="rect">
            <a:avLst/>
          </a:prstGeom>
        </p:spPr>
        <p:txBody>
          <a:bodyPr/>
          <a:lstStyle>
            <a:lvl1pPr>
              <a:defRPr sz="24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400">
                <a:latin typeface="Arial" panose="020B0604020202020204" pitchFamily="34" charset="0"/>
                <a:cs typeface="Arial" panose="020B0604020202020204" pitchFamily="34" charset="0"/>
              </a:defRPr>
            </a:lvl4pPr>
            <a:lvl5pPr>
              <a:defRPr sz="24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Arial" panose="020B0604020202020204" pitchFamily="34" charset="0"/>
                <a:cs typeface="Arial" panose="020B0604020202020204" pitchFamily="34" charset="0"/>
              </a:defRPr>
            </a:lvl1pPr>
          </a:lstStyle>
          <a:p>
            <a:r>
              <a:rPr lang="en-GB" dirty="0"/>
              <a:t>Click to edit Master title style</a:t>
            </a:r>
            <a:endParaRPr lang="en-AU" dirty="0"/>
          </a:p>
        </p:txBody>
      </p:sp>
    </p:spTree>
    <p:extLst>
      <p:ext uri="{BB962C8B-B14F-4D97-AF65-F5344CB8AC3E}">
        <p14:creationId xmlns:p14="http://schemas.microsoft.com/office/powerpoint/2010/main" val="69163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Slide_B">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b="1">
                <a:latin typeface="+mj-lt"/>
                <a:cs typeface="Arial" panose="020B0604020202020204" pitchFamily="34" charset="0"/>
              </a:defRPr>
            </a:lvl1pPr>
          </a:lstStyle>
          <a:p>
            <a:r>
              <a:rPr lang="en-GB" dirty="0"/>
              <a:t>Click to edit Master title style</a:t>
            </a:r>
            <a:endParaRPr lang="en-AU" dirty="0"/>
          </a:p>
        </p:txBody>
      </p:sp>
    </p:spTree>
    <p:extLst>
      <p:ext uri="{BB962C8B-B14F-4D97-AF65-F5344CB8AC3E}">
        <p14:creationId xmlns:p14="http://schemas.microsoft.com/office/powerpoint/2010/main" val="50584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Slide_C">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Rectangle 2">
            <a:extLst>
              <a:ext uri="{FF2B5EF4-FFF2-40B4-BE49-F238E27FC236}">
                <a16:creationId xmlns:a16="http://schemas.microsoft.com/office/drawing/2014/main" id="{B0C2CD22-33AE-4E90-B69A-B116C67E322F}"/>
              </a:ext>
            </a:extLst>
          </p:cNvPr>
          <p:cNvSpPr/>
          <p:nvPr userDrawn="1"/>
        </p:nvSpPr>
        <p:spPr>
          <a:xfrm>
            <a:off x="0" y="5414211"/>
            <a:ext cx="12192000" cy="1443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881912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Standard Slide_two column">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CED1A86-7C00-4B5E-BF2D-030A391AC223}"/>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4" name="Content Placeholder 3">
            <a:extLst>
              <a:ext uri="{FF2B5EF4-FFF2-40B4-BE49-F238E27FC236}">
                <a16:creationId xmlns:a16="http://schemas.microsoft.com/office/drawing/2014/main" id="{CFDA814E-6A9F-478A-8061-C5740CBC088C}"/>
              </a:ext>
              <a:ext uri="{C183D7F6-B498-43B3-948B-1728B52AA6E4}">
                <adec:decorative xmlns:adec="http://schemas.microsoft.com/office/drawing/2017/decorative" val="1"/>
              </a:ext>
            </a:extLst>
          </p:cNvPr>
          <p:cNvSpPr>
            <a:spLocks noGrp="1"/>
          </p:cNvSpPr>
          <p:nvPr>
            <p:ph sz="half" idx="2"/>
          </p:nvPr>
        </p:nvSpPr>
        <p:spPr>
          <a:xfrm>
            <a:off x="6189537" y="1800000"/>
            <a:ext cx="5510463" cy="3960000"/>
          </a:xfrm>
          <a:prstGeom prst="rect">
            <a:avLst/>
          </a:prstGeom>
        </p:spPr>
        <p:txBody>
          <a:bodyPr>
            <a:normAutofit/>
          </a:bodyPr>
          <a:lstStyle>
            <a:lvl1pPr>
              <a:defRPr sz="2000" baseline="0">
                <a:solidFill>
                  <a:srgbClr val="000619"/>
                </a:solidFill>
                <a:latin typeface="Arial" panose="020B0604020202020204" pitchFamily="34" charset="0"/>
                <a:cs typeface="Arial" panose="020B0604020202020204" pitchFamily="34" charset="0"/>
              </a:defRPr>
            </a:lvl1pPr>
            <a:lvl2pPr>
              <a:defRPr sz="2000" baseline="0">
                <a:solidFill>
                  <a:srgbClr val="000619"/>
                </a:solidFill>
                <a:latin typeface="Arial" panose="020B0604020202020204" pitchFamily="34" charset="0"/>
                <a:cs typeface="Arial" panose="020B0604020202020204" pitchFamily="34" charset="0"/>
              </a:defRPr>
            </a:lvl2pPr>
            <a:lvl3pPr>
              <a:defRPr sz="2000" baseline="0">
                <a:solidFill>
                  <a:srgbClr val="000619"/>
                </a:solidFill>
                <a:latin typeface="Arial" panose="020B0604020202020204" pitchFamily="34" charset="0"/>
                <a:cs typeface="Arial" panose="020B0604020202020204" pitchFamily="34" charset="0"/>
              </a:defRPr>
            </a:lvl3pPr>
            <a:lvl4pPr>
              <a:defRPr sz="2000" baseline="0">
                <a:solidFill>
                  <a:srgbClr val="000619"/>
                </a:solidFill>
                <a:latin typeface="Arial" panose="020B0604020202020204" pitchFamily="34" charset="0"/>
                <a:cs typeface="Arial" panose="020B0604020202020204" pitchFamily="34" charset="0"/>
              </a:defRPr>
            </a:lvl4pPr>
            <a:lvl5pPr>
              <a:defRPr sz="2000" baseline="0">
                <a:solidFill>
                  <a:srgbClr val="000619"/>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3" name="Content Placeholder 2">
            <a:extLst>
              <a:ext uri="{FF2B5EF4-FFF2-40B4-BE49-F238E27FC236}">
                <a16:creationId xmlns:a16="http://schemas.microsoft.com/office/drawing/2014/main" id="{AE3B8D85-19EE-40D8-B0FC-72738D139668}"/>
              </a:ext>
              <a:ext uri="{C183D7F6-B498-43B3-948B-1728B52AA6E4}">
                <adec:decorative xmlns:adec="http://schemas.microsoft.com/office/drawing/2017/decorative" val="1"/>
              </a:ext>
            </a:extLst>
          </p:cNvPr>
          <p:cNvSpPr>
            <a:spLocks noGrp="1"/>
          </p:cNvSpPr>
          <p:nvPr>
            <p:ph sz="half" idx="1"/>
          </p:nvPr>
        </p:nvSpPr>
        <p:spPr>
          <a:xfrm>
            <a:off x="468000" y="1800000"/>
            <a:ext cx="5430253" cy="3960000"/>
          </a:xfrm>
          <a:prstGeom prst="rect">
            <a:avLst/>
          </a:prstGeom>
        </p:spPr>
        <p:txBody>
          <a:bodyPr>
            <a:normAutofit/>
          </a:bodyPr>
          <a:lstStyle>
            <a:lvl1pPr>
              <a:defRPr sz="2000" baseline="0">
                <a:solidFill>
                  <a:srgbClr val="1C1C1C"/>
                </a:solidFill>
                <a:latin typeface="Arial" panose="020B0604020202020204" pitchFamily="34" charset="0"/>
                <a:cs typeface="Arial" panose="020B0604020202020204" pitchFamily="34" charset="0"/>
              </a:defRPr>
            </a:lvl1pPr>
            <a:lvl2pPr>
              <a:defRPr sz="2000" baseline="0">
                <a:solidFill>
                  <a:srgbClr val="1C1C1C"/>
                </a:solidFill>
                <a:latin typeface="Arial" panose="020B0604020202020204" pitchFamily="34" charset="0"/>
                <a:cs typeface="Arial" panose="020B0604020202020204" pitchFamily="34" charset="0"/>
              </a:defRPr>
            </a:lvl2pPr>
            <a:lvl3pPr>
              <a:defRPr sz="2000" baseline="0">
                <a:solidFill>
                  <a:srgbClr val="1C1C1C"/>
                </a:solidFill>
                <a:latin typeface="Arial" panose="020B0604020202020204" pitchFamily="34" charset="0"/>
                <a:cs typeface="Arial" panose="020B0604020202020204" pitchFamily="34" charset="0"/>
              </a:defRPr>
            </a:lvl3pPr>
            <a:lvl4pPr>
              <a:defRPr sz="2000" baseline="0">
                <a:solidFill>
                  <a:srgbClr val="1C1C1C"/>
                </a:solidFill>
                <a:latin typeface="Arial" panose="020B0604020202020204" pitchFamily="34" charset="0"/>
                <a:cs typeface="Arial" panose="020B0604020202020204" pitchFamily="34" charset="0"/>
              </a:defRPr>
            </a:lvl4pPr>
            <a:lvl5pPr>
              <a:defRPr sz="2000" baseline="0">
                <a:solidFill>
                  <a:srgbClr val="1C1C1C"/>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2" name="Title 1">
            <a:extLst>
              <a:ext uri="{FF2B5EF4-FFF2-40B4-BE49-F238E27FC236}">
                <a16:creationId xmlns:a16="http://schemas.microsoft.com/office/drawing/2014/main" id="{3D32BEA0-D192-4426-8039-EC77442576C8}"/>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Arial" panose="020B0604020202020204" pitchFamily="34" charset="0"/>
                <a:cs typeface="Arial" panose="020B0604020202020204" pitchFamily="34" charset="0"/>
              </a:defRPr>
            </a:lvl1pPr>
          </a:lstStyle>
          <a:p>
            <a:r>
              <a:rPr lang="en-GB" dirty="0"/>
              <a:t>Click to edit Master title style</a:t>
            </a:r>
            <a:endParaRPr lang="en-AU" dirty="0"/>
          </a:p>
        </p:txBody>
      </p:sp>
    </p:spTree>
    <p:extLst>
      <p:ext uri="{BB962C8B-B14F-4D97-AF65-F5344CB8AC3E}">
        <p14:creationId xmlns:p14="http://schemas.microsoft.com/office/powerpoint/2010/main" val="39907074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tandard Slide_Nav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rgbClr val="1426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latin typeface="Arial" panose="020B0604020202020204" pitchFamily="34" charset="0"/>
                <a:cs typeface="Arial" panose="020B0604020202020204" pitchFamily="34" charset="0"/>
              </a:defRPr>
            </a:lvl1pPr>
            <a:lvl2pPr>
              <a:defRPr sz="2400">
                <a:solidFill>
                  <a:schemeClr val="bg1"/>
                </a:solidFill>
                <a:latin typeface="Arial" panose="020B0604020202020204" pitchFamily="34" charset="0"/>
                <a:cs typeface="Arial" panose="020B0604020202020204" pitchFamily="34" charset="0"/>
              </a:defRPr>
            </a:lvl2pPr>
            <a:lvl3pPr>
              <a:defRPr sz="2400">
                <a:solidFill>
                  <a:schemeClr val="bg1"/>
                </a:solidFill>
                <a:latin typeface="Arial" panose="020B0604020202020204" pitchFamily="34" charset="0"/>
                <a:cs typeface="Arial" panose="020B0604020202020204" pitchFamily="34" charset="0"/>
              </a:defRPr>
            </a:lvl3pPr>
            <a:lvl4pPr>
              <a:defRPr sz="2400">
                <a:solidFill>
                  <a:schemeClr val="bg1"/>
                </a:solidFill>
                <a:latin typeface="Arial" panose="020B0604020202020204" pitchFamily="34" charset="0"/>
                <a:cs typeface="Arial" panose="020B0604020202020204" pitchFamily="34" charset="0"/>
              </a:defRPr>
            </a:lvl4pPr>
            <a:lvl5pPr>
              <a:defRPr sz="2400">
                <a:solidFill>
                  <a:schemeClr val="bg1"/>
                </a:solidFill>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GB" dirty="0"/>
              <a:t>Click to edit Master title style</a:t>
            </a:r>
            <a:endParaRPr lang="en-AU" dirty="0"/>
          </a:p>
        </p:txBody>
      </p:sp>
      <p:sp>
        <p:nvSpPr>
          <p:cNvPr id="7" name="TextBox 6" descr="CRICOS No. 00213J">
            <a:extLst>
              <a:ext uri="{FF2B5EF4-FFF2-40B4-BE49-F238E27FC236}">
                <a16:creationId xmlns:a16="http://schemas.microsoft.com/office/drawing/2014/main" id="{D5EC8957-644F-7081-47BC-8FC6DD56EE91}"/>
              </a:ext>
            </a:extLst>
          </p:cNvPr>
          <p:cNvSpPr txBox="1"/>
          <p:nvPr userDrawn="1"/>
        </p:nvSpPr>
        <p:spPr>
          <a:xfrm>
            <a:off x="345920" y="5861551"/>
            <a:ext cx="3101818" cy="184666"/>
          </a:xfrm>
          <a:prstGeom prst="rect">
            <a:avLst/>
          </a:prstGeom>
          <a:noFill/>
        </p:spPr>
        <p:txBody>
          <a:bodyPr wrap="square" rtlCol="0">
            <a:spAutoFit/>
          </a:bodyPr>
          <a:lstStyle/>
          <a:p>
            <a:pPr algn="l"/>
            <a:r>
              <a:rPr lang="en-AU" sz="600" dirty="0">
                <a:solidFill>
                  <a:schemeClr val="bg1">
                    <a:lumMod val="85000"/>
                  </a:schemeClr>
                </a:solidFill>
              </a:rPr>
              <a:t>TEQSA Provider ID PRV12079  Australian University | CRICOS No.00213J</a:t>
            </a:r>
          </a:p>
        </p:txBody>
      </p:sp>
    </p:spTree>
    <p:extLst>
      <p:ext uri="{BB962C8B-B14F-4D97-AF65-F5344CB8AC3E}">
        <p14:creationId xmlns:p14="http://schemas.microsoft.com/office/powerpoint/2010/main" val="134297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Standard Slide_Light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rgbClr val="6C98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tx2"/>
                </a:solidFill>
              </a:defRPr>
            </a:lvl1pPr>
          </a:lstStyle>
          <a:p>
            <a:r>
              <a:rPr lang="en-GB"/>
              <a:t>Click to edit Master title style</a:t>
            </a:r>
            <a:endParaRPr lang="en-AU" dirty="0"/>
          </a:p>
        </p:txBody>
      </p:sp>
      <p:sp>
        <p:nvSpPr>
          <p:cNvPr id="7" name="TextBox 6" descr="CRICOS No. 00213J">
            <a:extLst>
              <a:ext uri="{FF2B5EF4-FFF2-40B4-BE49-F238E27FC236}">
                <a16:creationId xmlns:a16="http://schemas.microsoft.com/office/drawing/2014/main" id="{2AD86AC8-57CB-49F0-9D68-790A95C9000B}"/>
              </a:ext>
            </a:extLst>
          </p:cNvPr>
          <p:cNvSpPr txBox="1"/>
          <p:nvPr userDrawn="1"/>
        </p:nvSpPr>
        <p:spPr>
          <a:xfrm>
            <a:off x="345920" y="5861551"/>
            <a:ext cx="3101818" cy="184666"/>
          </a:xfrm>
          <a:prstGeom prst="rect">
            <a:avLst/>
          </a:prstGeom>
          <a:noFill/>
        </p:spPr>
        <p:txBody>
          <a:bodyPr wrap="square" rtlCol="0">
            <a:spAutoFit/>
          </a:bodyPr>
          <a:lstStyle/>
          <a:p>
            <a:pPr algn="l"/>
            <a:r>
              <a:rPr lang="en-AU" sz="600" dirty="0">
                <a:solidFill>
                  <a:schemeClr val="bg1">
                    <a:lumMod val="85000"/>
                  </a:schemeClr>
                </a:solidFill>
              </a:rPr>
              <a:t>TEQSA Provider ID PRV12079  Australian University | CRICOS No.00213J</a:t>
            </a:r>
          </a:p>
        </p:txBody>
      </p:sp>
    </p:spTree>
    <p:extLst>
      <p:ext uri="{BB962C8B-B14F-4D97-AF65-F5344CB8AC3E}">
        <p14:creationId xmlns:p14="http://schemas.microsoft.com/office/powerpoint/2010/main" val="3016836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Page_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F2E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rgbClr val="14265E"/>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b" anchorCtr="0">
            <a:normAutofit/>
          </a:bodyPr>
          <a:lstStyle>
            <a:lvl1pPr algn="l">
              <a:defRPr sz="5400" b="1">
                <a:solidFill>
                  <a:srgbClr val="14265E"/>
                </a:solidFill>
              </a:defRPr>
            </a:lvl1pPr>
          </a:lstStyle>
          <a:p>
            <a:r>
              <a:rPr lang="en-US" dirty="0"/>
              <a:t>Click to edit: Chapter Title</a:t>
            </a:r>
            <a:endParaRPr lang="en-AU" dirty="0"/>
          </a:p>
        </p:txBody>
      </p:sp>
    </p:spTree>
    <p:extLst>
      <p:ext uri="{BB962C8B-B14F-4D97-AF65-F5344CB8AC3E}">
        <p14:creationId xmlns:p14="http://schemas.microsoft.com/office/powerpoint/2010/main" val="3357113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Page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1426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b" anchorCtr="0">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3294093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Page_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0A1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b" anchorCtr="0">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1566651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Page_D">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b" anchorCtr="0">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2234825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AAD347D-5ACD-4C99-B74B-A9C85AD731AF}"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956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6087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783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25599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5794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44807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167486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086117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960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820114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389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AAD347D-5ACD-4C99-B74B-A9C85AD731AF}" type="datetimeFigureOut">
              <a:rPr lang="en-US" smtClean="0"/>
              <a:t>5/18/2026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2044612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196066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796027F-7875-4030-9381-8BD8C4F21935}" type="datetimeFigureOut">
              <a:rPr lang="en-US" smtClean="0"/>
              <a:t>5/18/2026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5527750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454462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558771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91747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91742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039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807681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505396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509A250-FF31-4206-8172-F9D3106AACB1}" type="datetimeFigureOut">
              <a:rPr lang="en-US" smtClean="0"/>
              <a:t>5/18/2026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988029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4.pn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4.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4.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739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ransition spd="med">
    <p:fade/>
  </p:transition>
  <p:hf sldNum="0" hdr="0" ftr="0" dt="0"/>
  <p:txStyles>
    <p:titleStyle>
      <a:lvl1pPr algn="l" defTabSz="914400" rtl="0" eaLnBrk="1" latinLnBrk="0" hangingPunct="1">
        <a:lnSpc>
          <a:spcPct val="90000"/>
        </a:lnSpc>
        <a:spcBef>
          <a:spcPct val="0"/>
        </a:spcBef>
        <a:buNone/>
        <a:defRPr sz="4400" b="1" kern="1200" baseline="0">
          <a:solidFill>
            <a:srgbClr val="164C7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A6C89C-4BAB-AD96-23E9-5B177959AF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rcRect/>
          <a:stretch/>
        </p:blipFill>
        <p:spPr>
          <a:xfrm>
            <a:off x="0" y="6080044"/>
            <a:ext cx="12192000" cy="777956"/>
          </a:xfrm>
          <a:prstGeom prst="rect">
            <a:avLst/>
          </a:prstGeom>
        </p:spPr>
      </p:pic>
      <p:sp>
        <p:nvSpPr>
          <p:cNvPr id="8" name="TextBox 7" descr="CRICOS No. 00213J">
            <a:extLst>
              <a:ext uri="{FF2B5EF4-FFF2-40B4-BE49-F238E27FC236}">
                <a16:creationId xmlns:a16="http://schemas.microsoft.com/office/drawing/2014/main" id="{D65D3AAA-41CE-C1C3-3510-BEEDA2C82BA8}"/>
              </a:ext>
            </a:extLst>
          </p:cNvPr>
          <p:cNvSpPr txBox="1"/>
          <p:nvPr userDrawn="1"/>
        </p:nvSpPr>
        <p:spPr>
          <a:xfrm>
            <a:off x="345920" y="5861551"/>
            <a:ext cx="3101818" cy="184666"/>
          </a:xfrm>
          <a:prstGeom prst="rect">
            <a:avLst/>
          </a:prstGeom>
          <a:noFill/>
        </p:spPr>
        <p:txBody>
          <a:bodyPr wrap="square" rtlCol="0">
            <a:spAutoFit/>
          </a:bodyPr>
          <a:lstStyle/>
          <a:p>
            <a:pPr algn="l"/>
            <a:r>
              <a:rPr lang="en-AU" sz="600" dirty="0">
                <a:solidFill>
                  <a:schemeClr val="bg1">
                    <a:lumMod val="65000"/>
                  </a:schemeClr>
                </a:solidFill>
              </a:rPr>
              <a:t>TEQSA Provider ID PRV12079  Australian University | CRICOS No.00213J</a:t>
            </a:r>
          </a:p>
        </p:txBody>
      </p:sp>
      <p:sp>
        <p:nvSpPr>
          <p:cNvPr id="9" name="TextBox 8">
            <a:extLst>
              <a:ext uri="{FF2B5EF4-FFF2-40B4-BE49-F238E27FC236}">
                <a16:creationId xmlns:a16="http://schemas.microsoft.com/office/drawing/2014/main" id="{59A59168-7CBA-5E60-B77D-477E1447656B}"/>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latin typeface="Arial" panose="020B0604020202020204" pitchFamily="34" charset="0"/>
                <a:cs typeface="Arial" panose="020B0604020202020204" pitchFamily="34" charset="0"/>
              </a:rPr>
              <a:t>&lt;Add your team or unit name here&gt;</a:t>
            </a:r>
          </a:p>
          <a:p>
            <a:r>
              <a:rPr lang="en-AU" sz="1100" b="0" dirty="0">
                <a:solidFill>
                  <a:schemeClr val="bg1"/>
                </a:solidFill>
                <a:latin typeface="Arial" panose="020B0604020202020204" pitchFamily="34" charset="0"/>
                <a:cs typeface="Arial" panose="020B0604020202020204" pitchFamily="34" charset="0"/>
              </a:rPr>
              <a:t>&lt;Add your department, faculty or division name here&gt;</a:t>
            </a:r>
          </a:p>
        </p:txBody>
      </p:sp>
      <p:sp>
        <p:nvSpPr>
          <p:cNvPr id="10" name="Text Placeholder 2">
            <a:extLst>
              <a:ext uri="{FF2B5EF4-FFF2-40B4-BE49-F238E27FC236}">
                <a16:creationId xmlns:a16="http://schemas.microsoft.com/office/drawing/2014/main" id="{5478D4A3-85E9-05D5-B24D-135AF5419C77}"/>
              </a:ext>
            </a:extLst>
          </p:cNvPr>
          <p:cNvSpPr>
            <a:spLocks noGrp="1"/>
          </p:cNvSpPr>
          <p:nvPr>
            <p:ph type="body" idx="1"/>
          </p:nvPr>
        </p:nvSpPr>
        <p:spPr>
          <a:xfrm>
            <a:off x="468000" y="1800000"/>
            <a:ext cx="11232000" cy="396000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11" name="Title Placeholder 1">
            <a:extLst>
              <a:ext uri="{FF2B5EF4-FFF2-40B4-BE49-F238E27FC236}">
                <a16:creationId xmlns:a16="http://schemas.microsoft.com/office/drawing/2014/main" id="{4A1B16F6-C5A6-A626-95D1-D4628E540CAA}"/>
              </a:ext>
            </a:extLst>
          </p:cNvPr>
          <p:cNvSpPr>
            <a:spLocks noGrp="1"/>
          </p:cNvSpPr>
          <p:nvPr>
            <p:ph type="title"/>
          </p:nvPr>
        </p:nvSpPr>
        <p:spPr>
          <a:xfrm>
            <a:off x="468000" y="360000"/>
            <a:ext cx="11232000" cy="1332000"/>
          </a:xfrm>
          <a:prstGeom prst="rect">
            <a:avLst/>
          </a:prstGeom>
        </p:spPr>
        <p:txBody>
          <a:bodyPr vert="horz" lIns="91440" tIns="45720" rIns="91440" bIns="45720" rtlCol="0" anchor="ctr">
            <a:normAutofit/>
          </a:bodyPr>
          <a:lstStyle/>
          <a:p>
            <a:r>
              <a:rPr lang="en-GB" dirty="0"/>
              <a:t>Click to edit Master title style</a:t>
            </a:r>
            <a:endParaRPr lang="en-AU" dirty="0"/>
          </a:p>
        </p:txBody>
      </p:sp>
      <p:pic>
        <p:nvPicPr>
          <p:cNvPr id="14" name="Picture 13">
            <a:extLst>
              <a:ext uri="{FF2B5EF4-FFF2-40B4-BE49-F238E27FC236}">
                <a16:creationId xmlns:a16="http://schemas.microsoft.com/office/drawing/2014/main" id="{2A35E796-A0B2-B4BF-BF24-1D6B35FC13E6}"/>
              </a:ext>
            </a:extLst>
          </p:cNvPr>
          <p:cNvPicPr>
            <a:picLocks noGrp="1" noRot="1" noMove="1" noResize="1" noEditPoints="1" noAdjustHandles="1" noChangeArrowheads="1" noChangeShapeType="1" noCrop="1"/>
          </p:cNvPicPr>
          <p:nvPr userDrawn="1"/>
        </p:nvPicPr>
        <p:blipFill>
          <a:blip r:embed="rId14">
            <a:extLst>
              <a:ext uri="{28A0092B-C50C-407E-A947-70E740481C1C}">
                <a14:useLocalDpi xmlns:a14="http://schemas.microsoft.com/office/drawing/2010/main" val="0"/>
              </a:ext>
            </a:extLst>
          </a:blip>
          <a:srcRect/>
          <a:stretch/>
        </p:blipFill>
        <p:spPr>
          <a:xfrm>
            <a:off x="11264157" y="6238225"/>
            <a:ext cx="468001" cy="468001"/>
          </a:xfrm>
          <a:prstGeom prst="rect">
            <a:avLst/>
          </a:prstGeom>
        </p:spPr>
      </p:pic>
    </p:spTree>
    <p:extLst>
      <p:ext uri="{BB962C8B-B14F-4D97-AF65-F5344CB8AC3E}">
        <p14:creationId xmlns:p14="http://schemas.microsoft.com/office/powerpoint/2010/main" val="405028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5" r:id="rId3"/>
    <p:sldLayoutId id="2147483672" r:id="rId4"/>
    <p:sldLayoutId id="2147483652" r:id="rId5"/>
    <p:sldLayoutId id="2147483666" r:id="rId6"/>
    <p:sldLayoutId id="2147483667" r:id="rId7"/>
    <p:sldLayoutId id="2147483669" r:id="rId8"/>
    <p:sldLayoutId id="2147483673" r:id="rId9"/>
    <p:sldLayoutId id="2147483670" r:id="rId10"/>
    <p:sldLayoutId id="2147483671" r:id="rId11"/>
  </p:sldLayoutIdLst>
  <p:txStyles>
    <p:titleStyle>
      <a:lvl1pPr algn="l" defTabSz="914400" rtl="0" eaLnBrk="1" latinLnBrk="0" hangingPunct="1">
        <a:lnSpc>
          <a:spcPct val="90000"/>
        </a:lnSpc>
        <a:spcBef>
          <a:spcPct val="0"/>
        </a:spcBef>
        <a:buNone/>
        <a:defRPr sz="4400" b="1" kern="1200">
          <a:solidFill>
            <a:srgbClr val="14265E"/>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4265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4265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4265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4265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426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96DFF08F-DC6B-4601-B491-B0F83F6DD2DA}" type="datetimeFigureOut">
              <a:rPr lang="en-US" dirty="0"/>
              <a:pPr/>
              <a:t>5/18/2026</a:t>
            </a:fld>
            <a:endParaRPr lang="en-US" dirty="0"/>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6CC5FA40-17D1-6D4B-29B7-208208AE0C5C}"/>
              </a:ext>
              <a:ext uri="{C183D7F6-B498-43B3-948B-1728B52AA6E4}">
                <adec:decorative xmlns:adec="http://schemas.microsoft.com/office/drawing/2017/decorative" val="1"/>
              </a:ext>
            </a:extLst>
          </p:cNvPr>
          <p:cNvPicPr/>
          <p:nvPr userDrawn="1"/>
        </p:nvPicPr>
        <p:blipFill>
          <a:blip r:embed="rId13">
            <a:extLst>
              <a:ext uri="{28A0092B-C50C-407E-A947-70E740481C1C}">
                <a14:useLocalDpi xmlns:a14="http://schemas.microsoft.com/office/drawing/2010/main" val="0"/>
              </a:ext>
            </a:extLst>
          </a:blip>
          <a:srcRect/>
          <a:stretch/>
        </p:blipFill>
        <p:spPr>
          <a:xfrm>
            <a:off x="0" y="6080044"/>
            <a:ext cx="12192000" cy="777956"/>
          </a:xfrm>
          <a:prstGeom prst="rect">
            <a:avLst/>
          </a:prstGeom>
        </p:spPr>
      </p:pic>
      <p:sp>
        <p:nvSpPr>
          <p:cNvPr id="9" name="TextBox 8" descr="CRICOS No. 00213J">
            <a:extLst>
              <a:ext uri="{FF2B5EF4-FFF2-40B4-BE49-F238E27FC236}">
                <a16:creationId xmlns:a16="http://schemas.microsoft.com/office/drawing/2014/main" id="{98F4513D-952B-A6D4-1F9F-A48DC608349F}"/>
              </a:ext>
            </a:extLst>
          </p:cNvPr>
          <p:cNvSpPr txBox="1"/>
          <p:nvPr userDrawn="1"/>
        </p:nvSpPr>
        <p:spPr>
          <a:xfrm>
            <a:off x="345920" y="5861551"/>
            <a:ext cx="3101818" cy="184666"/>
          </a:xfrm>
          <a:prstGeom prst="rect">
            <a:avLst/>
          </a:prstGeom>
          <a:noFill/>
        </p:spPr>
        <p:txBody>
          <a:bodyPr wrap="square" rtlCol="0">
            <a:spAutoFit/>
          </a:bodyPr>
          <a:lstStyle/>
          <a:p>
            <a:pPr algn="l"/>
            <a:r>
              <a:rPr lang="en-AU" sz="600" dirty="0">
                <a:solidFill>
                  <a:schemeClr val="bg1">
                    <a:lumMod val="65000"/>
                  </a:schemeClr>
                </a:solidFill>
              </a:rPr>
              <a:t>TEQSA Provider ID PRV12079  Australian University | CRICOS No.00213J</a:t>
            </a:r>
          </a:p>
        </p:txBody>
      </p:sp>
      <p:sp>
        <p:nvSpPr>
          <p:cNvPr id="10" name="TextBox 9">
            <a:extLst>
              <a:ext uri="{FF2B5EF4-FFF2-40B4-BE49-F238E27FC236}">
                <a16:creationId xmlns:a16="http://schemas.microsoft.com/office/drawing/2014/main" id="{25E823C4-B9D4-7723-BCBE-5F2436F1A421}"/>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latin typeface="Arial" panose="020B0604020202020204" pitchFamily="34" charset="0"/>
                <a:cs typeface="Arial" panose="020B0604020202020204" pitchFamily="34" charset="0"/>
              </a:rPr>
              <a:t>&lt;Add your team or unit name here&gt;</a:t>
            </a:r>
          </a:p>
          <a:p>
            <a:r>
              <a:rPr lang="en-AU" sz="1100" b="0" dirty="0">
                <a:solidFill>
                  <a:schemeClr val="bg1"/>
                </a:solidFill>
                <a:latin typeface="Arial" panose="020B0604020202020204" pitchFamily="34" charset="0"/>
                <a:cs typeface="Arial" panose="020B0604020202020204" pitchFamily="34" charset="0"/>
              </a:rPr>
              <a:t>&lt;Add your department, faculty or division name here&gt;</a:t>
            </a:r>
          </a:p>
        </p:txBody>
      </p:sp>
      <p:pic>
        <p:nvPicPr>
          <p:cNvPr id="11" name="Picture 10">
            <a:extLst>
              <a:ext uri="{FF2B5EF4-FFF2-40B4-BE49-F238E27FC236}">
                <a16:creationId xmlns:a16="http://schemas.microsoft.com/office/drawing/2014/main" id="{7E69A299-0A27-8A81-1671-DCEC1F045EAC}"/>
              </a:ext>
            </a:extLst>
          </p:cNvPr>
          <p:cNvPicPr/>
          <p:nvPr userDrawn="1"/>
        </p:nvPicPr>
        <p:blipFill>
          <a:blip r:embed="rId14">
            <a:extLst>
              <a:ext uri="{28A0092B-C50C-407E-A947-70E740481C1C}">
                <a14:useLocalDpi xmlns:a14="http://schemas.microsoft.com/office/drawing/2010/main" val="0"/>
              </a:ext>
            </a:extLst>
          </a:blip>
          <a:srcRect/>
          <a:stretch/>
        </p:blipFill>
        <p:spPr>
          <a:xfrm>
            <a:off x="11264157" y="6238225"/>
            <a:ext cx="468001" cy="468001"/>
          </a:xfrm>
          <a:prstGeom prst="rect">
            <a:avLst/>
          </a:prstGeom>
        </p:spPr>
      </p:pic>
    </p:spTree>
    <p:extLst>
      <p:ext uri="{BB962C8B-B14F-4D97-AF65-F5344CB8AC3E}">
        <p14:creationId xmlns:p14="http://schemas.microsoft.com/office/powerpoint/2010/main" val="2338359013"/>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7" name="Picture 6">
            <a:extLst>
              <a:ext uri="{FF2B5EF4-FFF2-40B4-BE49-F238E27FC236}">
                <a16:creationId xmlns:a16="http://schemas.microsoft.com/office/drawing/2014/main" id="{4C1BF7F7-9F8A-9DD3-1592-3D725F4ACE13}"/>
              </a:ext>
              <a:ext uri="{C183D7F6-B498-43B3-948B-1728B52AA6E4}">
                <adec:decorative xmlns:adec="http://schemas.microsoft.com/office/drawing/2017/decorative" val="1"/>
              </a:ext>
            </a:extLst>
          </p:cNvPr>
          <p:cNvPicPr/>
          <p:nvPr userDrawn="1"/>
        </p:nvPicPr>
        <p:blipFill>
          <a:blip r:embed="rId13">
            <a:extLst>
              <a:ext uri="{28A0092B-C50C-407E-A947-70E740481C1C}">
                <a14:useLocalDpi xmlns:a14="http://schemas.microsoft.com/office/drawing/2010/main" val="0"/>
              </a:ext>
            </a:extLst>
          </a:blip>
          <a:srcRect/>
          <a:stretch/>
        </p:blipFill>
        <p:spPr>
          <a:xfrm>
            <a:off x="0" y="6080044"/>
            <a:ext cx="12192000" cy="777956"/>
          </a:xfrm>
          <a:prstGeom prst="rect">
            <a:avLst/>
          </a:prstGeom>
        </p:spPr>
      </p:pic>
      <p:sp>
        <p:nvSpPr>
          <p:cNvPr id="8" name="TextBox 7" descr="CRICOS No. 00213J">
            <a:extLst>
              <a:ext uri="{FF2B5EF4-FFF2-40B4-BE49-F238E27FC236}">
                <a16:creationId xmlns:a16="http://schemas.microsoft.com/office/drawing/2014/main" id="{8D911C2C-AF09-57DD-4DB7-6D7CE3DF162C}"/>
              </a:ext>
            </a:extLst>
          </p:cNvPr>
          <p:cNvSpPr txBox="1"/>
          <p:nvPr userDrawn="1"/>
        </p:nvSpPr>
        <p:spPr>
          <a:xfrm>
            <a:off x="345920" y="5861551"/>
            <a:ext cx="3101818" cy="184666"/>
          </a:xfrm>
          <a:prstGeom prst="rect">
            <a:avLst/>
          </a:prstGeom>
          <a:noFill/>
        </p:spPr>
        <p:txBody>
          <a:bodyPr wrap="square" rtlCol="0">
            <a:spAutoFit/>
          </a:bodyPr>
          <a:lstStyle/>
          <a:p>
            <a:pPr algn="l"/>
            <a:r>
              <a:rPr lang="en-AU" sz="600" dirty="0">
                <a:solidFill>
                  <a:schemeClr val="bg1">
                    <a:lumMod val="65000"/>
                  </a:schemeClr>
                </a:solidFill>
              </a:rPr>
              <a:t>TEQSA Provider ID PRV12079  Australian University | CRICOS No.00213J</a:t>
            </a:r>
          </a:p>
        </p:txBody>
      </p:sp>
      <p:sp>
        <p:nvSpPr>
          <p:cNvPr id="12" name="TextBox 11">
            <a:extLst>
              <a:ext uri="{FF2B5EF4-FFF2-40B4-BE49-F238E27FC236}">
                <a16:creationId xmlns:a16="http://schemas.microsoft.com/office/drawing/2014/main" id="{F8BA029B-27FF-180C-A480-86E31C95E9BD}"/>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latin typeface="Arial" panose="020B0604020202020204" pitchFamily="34" charset="0"/>
                <a:cs typeface="Arial" panose="020B0604020202020204" pitchFamily="34" charset="0"/>
              </a:rPr>
              <a:t>&lt;Add your team or unit name here&gt;</a:t>
            </a:r>
          </a:p>
          <a:p>
            <a:r>
              <a:rPr lang="en-AU" sz="1100" b="0" dirty="0">
                <a:solidFill>
                  <a:schemeClr val="bg1"/>
                </a:solidFill>
                <a:latin typeface="Arial" panose="020B0604020202020204" pitchFamily="34" charset="0"/>
                <a:cs typeface="Arial" panose="020B0604020202020204" pitchFamily="34" charset="0"/>
              </a:rPr>
              <a:t>&lt;Add your department, faculty or division name here&gt;</a:t>
            </a:r>
          </a:p>
        </p:txBody>
      </p:sp>
      <p:pic>
        <p:nvPicPr>
          <p:cNvPr id="13" name="Picture 12">
            <a:extLst>
              <a:ext uri="{FF2B5EF4-FFF2-40B4-BE49-F238E27FC236}">
                <a16:creationId xmlns:a16="http://schemas.microsoft.com/office/drawing/2014/main" id="{C58C18EC-E1CC-15D7-0FB3-DA95DD608125}"/>
              </a:ext>
            </a:extLst>
          </p:cNvPr>
          <p:cNvPicPr/>
          <p:nvPr userDrawn="1"/>
        </p:nvPicPr>
        <p:blipFill>
          <a:blip r:embed="rId14">
            <a:extLst>
              <a:ext uri="{28A0092B-C50C-407E-A947-70E740481C1C}">
                <a14:useLocalDpi xmlns:a14="http://schemas.microsoft.com/office/drawing/2010/main" val="0"/>
              </a:ext>
            </a:extLst>
          </a:blip>
          <a:srcRect/>
          <a:stretch/>
        </p:blipFill>
        <p:spPr>
          <a:xfrm>
            <a:off x="11264157" y="6238225"/>
            <a:ext cx="468001" cy="468001"/>
          </a:xfrm>
          <a:prstGeom prst="rect">
            <a:avLst/>
          </a:prstGeom>
        </p:spPr>
      </p:pic>
    </p:spTree>
    <p:extLst>
      <p:ext uri="{BB962C8B-B14F-4D97-AF65-F5344CB8AC3E}">
        <p14:creationId xmlns:p14="http://schemas.microsoft.com/office/powerpoint/2010/main" val="3552190938"/>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411A13-8E27-5D38-7321-936A00B50057}"/>
              </a:ext>
            </a:extLst>
          </p:cNvPr>
          <p:cNvSpPr>
            <a:spLocks noGrp="1"/>
          </p:cNvSpPr>
          <p:nvPr>
            <p:ph type="body" sz="quarter" idx="10"/>
          </p:nvPr>
        </p:nvSpPr>
        <p:spPr>
          <a:xfrm>
            <a:off x="151840" y="4368241"/>
            <a:ext cx="3640439" cy="392650"/>
          </a:xfrm>
        </p:spPr>
        <p:txBody>
          <a:bodyPr/>
          <a:lstStyle/>
          <a:p>
            <a:r>
              <a:rPr lang="en-AU" sz="1400" dirty="0"/>
              <a:t>Jeffrey Chan,  Haiden Williams,  Eric Rizki,  Pranav Sharma, Kevin Yu</a:t>
            </a:r>
          </a:p>
        </p:txBody>
      </p:sp>
      <p:sp>
        <p:nvSpPr>
          <p:cNvPr id="3" name="Subtitle 2">
            <a:extLst>
              <a:ext uri="{FF2B5EF4-FFF2-40B4-BE49-F238E27FC236}">
                <a16:creationId xmlns:a16="http://schemas.microsoft.com/office/drawing/2014/main" id="{EF07E13A-A6AF-6DB7-7A41-F1530CB45D55}"/>
              </a:ext>
            </a:extLst>
          </p:cNvPr>
          <p:cNvSpPr>
            <a:spLocks noGrp="1"/>
          </p:cNvSpPr>
          <p:nvPr>
            <p:ph type="subTitle" idx="1"/>
          </p:nvPr>
        </p:nvSpPr>
        <p:spPr>
          <a:xfrm>
            <a:off x="343226" y="3886737"/>
            <a:ext cx="7380370" cy="392650"/>
          </a:xfrm>
        </p:spPr>
        <p:txBody>
          <a:bodyPr/>
          <a:lstStyle/>
          <a:p>
            <a:r>
              <a:rPr lang="en-AU" dirty="0"/>
              <a:t>Team 67</a:t>
            </a:r>
          </a:p>
        </p:txBody>
      </p:sp>
      <p:sp>
        <p:nvSpPr>
          <p:cNvPr id="4" name="Title 3">
            <a:extLst>
              <a:ext uri="{FF2B5EF4-FFF2-40B4-BE49-F238E27FC236}">
                <a16:creationId xmlns:a16="http://schemas.microsoft.com/office/drawing/2014/main" id="{59C3BAF4-629D-0935-7707-E4B74D716611}"/>
              </a:ext>
            </a:extLst>
          </p:cNvPr>
          <p:cNvSpPr>
            <a:spLocks noGrp="1"/>
          </p:cNvSpPr>
          <p:nvPr>
            <p:ph type="ctrTitle"/>
          </p:nvPr>
        </p:nvSpPr>
        <p:spPr>
          <a:xfrm>
            <a:off x="343226" y="1793029"/>
            <a:ext cx="7380370" cy="1904842"/>
          </a:xfrm>
        </p:spPr>
        <p:txBody>
          <a:bodyPr/>
          <a:lstStyle/>
          <a:p>
            <a:r>
              <a:rPr lang="en-AU" dirty="0" err="1"/>
              <a:t>SmartSpend</a:t>
            </a:r>
            <a:endParaRPr lang="en-AU" dirty="0"/>
          </a:p>
        </p:txBody>
      </p:sp>
    </p:spTree>
    <p:extLst>
      <p:ext uri="{BB962C8B-B14F-4D97-AF65-F5344CB8AC3E}">
        <p14:creationId xmlns:p14="http://schemas.microsoft.com/office/powerpoint/2010/main" val="5506319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716814-11E3-656C-6232-B07B1F2A47A9}"/>
              </a:ext>
            </a:extLst>
          </p:cNvPr>
          <p:cNvSpPr>
            <a:spLocks noGrp="1"/>
          </p:cNvSpPr>
          <p:nvPr>
            <p:ph type="title"/>
          </p:nvPr>
        </p:nvSpPr>
        <p:spPr>
          <a:xfrm>
            <a:off x="1129284" y="393830"/>
            <a:ext cx="9720072" cy="1499616"/>
          </a:xfrm>
          <a:noFill/>
        </p:spPr>
        <p:txBody>
          <a:bodyPr>
            <a:normAutofit/>
          </a:bodyPr>
          <a:lstStyle/>
          <a:p>
            <a:r>
              <a:rPr lang="en-AU" dirty="0">
                <a:solidFill>
                  <a:srgbClr val="63DF9B"/>
                </a:solidFill>
                <a:latin typeface="Aptos Light" panose="020F0502020204030204" pitchFamily="34" charset="0"/>
              </a:rPr>
              <a:t>The Problem, the Users, and the Purpose</a:t>
            </a:r>
          </a:p>
        </p:txBody>
      </p:sp>
      <p:sp>
        <p:nvSpPr>
          <p:cNvPr id="3" name="Content Placeholder 2">
            <a:extLst>
              <a:ext uri="{FF2B5EF4-FFF2-40B4-BE49-F238E27FC236}">
                <a16:creationId xmlns:a16="http://schemas.microsoft.com/office/drawing/2014/main" id="{79AA659A-A4B4-4F8B-FB3B-5F788FD468AF}"/>
              </a:ext>
            </a:extLst>
          </p:cNvPr>
          <p:cNvSpPr>
            <a:spLocks noGrp="1"/>
          </p:cNvSpPr>
          <p:nvPr>
            <p:ph sz="half" idx="1"/>
          </p:nvPr>
        </p:nvSpPr>
        <p:spPr>
          <a:xfrm>
            <a:off x="846917" y="2002465"/>
            <a:ext cx="4754880" cy="4023360"/>
          </a:xfrm>
        </p:spPr>
        <p:txBody>
          <a:bodyPr>
            <a:normAutofit fontScale="92500" lnSpcReduction="10000"/>
          </a:bodyPr>
          <a:lstStyle/>
          <a:p>
            <a:r>
              <a:rPr lang="en-AU" b="1" dirty="0"/>
              <a:t>The problem</a:t>
            </a:r>
          </a:p>
          <a:p>
            <a:pPr lvl="1"/>
            <a:r>
              <a:rPr lang="en-AU" dirty="0"/>
              <a:t>Students on tight budgets struggle to shop frugally grocery prices vary across retailers and shift week to week.</a:t>
            </a:r>
          </a:p>
          <a:p>
            <a:pPr lvl="1"/>
            <a:r>
              <a:rPr lang="en-AU" dirty="0"/>
              <a:t>Conventional shopping apps optimise for browsing, not for deciding what to buy and where before the trip.</a:t>
            </a:r>
          </a:p>
          <a:p>
            <a:r>
              <a:rPr lang="en-AU" b="1" dirty="0"/>
              <a:t>Intended users</a:t>
            </a:r>
          </a:p>
          <a:p>
            <a:pPr lvl="1"/>
            <a:r>
              <a:rPr lang="en-AU" dirty="0"/>
              <a:t>University students managing a weekly grocery budget across two or three retailers.</a:t>
            </a:r>
          </a:p>
          <a:p>
            <a:r>
              <a:rPr lang="en-AU" b="1" dirty="0"/>
              <a:t>The gap we addressed</a:t>
            </a:r>
          </a:p>
          <a:p>
            <a:pPr lvl="1"/>
            <a:r>
              <a:rPr lang="en-AU" dirty="0"/>
              <a:t>A list-first experience that surfaces price differences and budget impact at the point of decision — not after the receipt.</a:t>
            </a:r>
          </a:p>
        </p:txBody>
      </p:sp>
      <p:sp>
        <p:nvSpPr>
          <p:cNvPr id="2" name="Content Placeholder 1">
            <a:extLst>
              <a:ext uri="{FF2B5EF4-FFF2-40B4-BE49-F238E27FC236}">
                <a16:creationId xmlns:a16="http://schemas.microsoft.com/office/drawing/2014/main" id="{C9820605-4B59-0546-239D-01784ED75A66}"/>
              </a:ext>
            </a:extLst>
          </p:cNvPr>
          <p:cNvSpPr>
            <a:spLocks noGrp="1"/>
          </p:cNvSpPr>
          <p:nvPr>
            <p:ph sz="half" idx="2"/>
          </p:nvPr>
        </p:nvSpPr>
        <p:spPr>
          <a:xfrm>
            <a:off x="5989320" y="2002465"/>
            <a:ext cx="4754880" cy="4023360"/>
          </a:xfrm>
        </p:spPr>
        <p:txBody>
          <a:bodyPr>
            <a:normAutofit fontScale="92500" lnSpcReduction="10000"/>
          </a:bodyPr>
          <a:lstStyle/>
          <a:p>
            <a:r>
              <a:rPr lang="en-AU" b="1" dirty="0"/>
              <a:t>Why this matters</a:t>
            </a:r>
          </a:p>
          <a:p>
            <a:pPr lvl="1"/>
            <a:r>
              <a:rPr lang="en-AU" dirty="0"/>
              <a:t>Most users know what they want to buy. They don’t know where it’s cheapest this week.</a:t>
            </a:r>
          </a:p>
          <a:p>
            <a:pPr lvl="1"/>
            <a:r>
              <a:rPr lang="en-AU" dirty="0"/>
              <a:t>That decision happens in five minutes at the kitchen bench, not in a 30 minute browsing session.</a:t>
            </a:r>
          </a:p>
          <a:p>
            <a:r>
              <a:rPr lang="en-AU" b="1" dirty="0"/>
              <a:t>Value driven outcomes</a:t>
            </a:r>
          </a:p>
          <a:p>
            <a:pPr lvl="1"/>
            <a:r>
              <a:rPr lang="en-AU" dirty="0"/>
              <a:t>Reduce the mental load of cross store comparison.</a:t>
            </a:r>
          </a:p>
          <a:p>
            <a:pPr lvl="1"/>
            <a:r>
              <a:rPr lang="en-AU" dirty="0"/>
              <a:t>Make budget impact visible before checkout, not after.</a:t>
            </a:r>
          </a:p>
        </p:txBody>
      </p:sp>
    </p:spTree>
    <p:extLst>
      <p:ext uri="{BB962C8B-B14F-4D97-AF65-F5344CB8AC3E}">
        <p14:creationId xmlns:p14="http://schemas.microsoft.com/office/powerpoint/2010/main" val="3107571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04459A-F322-01EF-F037-8C236C5AA6D2}"/>
              </a:ext>
            </a:extLst>
          </p:cNvPr>
          <p:cNvSpPr>
            <a:spLocks noGrp="1"/>
          </p:cNvSpPr>
          <p:nvPr>
            <p:ph type="title"/>
          </p:nvPr>
        </p:nvSpPr>
        <p:spPr>
          <a:xfrm>
            <a:off x="732508" y="100371"/>
            <a:ext cx="9720072" cy="1499616"/>
          </a:xfrm>
        </p:spPr>
        <p:txBody>
          <a:bodyPr>
            <a:normAutofit/>
          </a:bodyPr>
          <a:lstStyle/>
          <a:p>
            <a:r>
              <a:rPr lang="en-AU" dirty="0"/>
              <a:t>How We Worked as a Team</a:t>
            </a:r>
          </a:p>
        </p:txBody>
      </p:sp>
      <p:sp>
        <p:nvSpPr>
          <p:cNvPr id="3" name="Content Placeholder 2">
            <a:extLst>
              <a:ext uri="{FF2B5EF4-FFF2-40B4-BE49-F238E27FC236}">
                <a16:creationId xmlns:a16="http://schemas.microsoft.com/office/drawing/2014/main" id="{EF3E7A50-DDE8-1BDE-BF72-198CD1917FDC}"/>
              </a:ext>
            </a:extLst>
          </p:cNvPr>
          <p:cNvSpPr>
            <a:spLocks noGrp="1"/>
          </p:cNvSpPr>
          <p:nvPr>
            <p:ph sz="half" idx="1"/>
          </p:nvPr>
        </p:nvSpPr>
        <p:spPr>
          <a:xfrm>
            <a:off x="634266" y="1984461"/>
            <a:ext cx="4754880" cy="4023360"/>
          </a:xfrm>
        </p:spPr>
        <p:txBody>
          <a:bodyPr>
            <a:normAutofit/>
          </a:bodyPr>
          <a:lstStyle/>
          <a:p>
            <a:r>
              <a:rPr lang="en-AU" b="1" dirty="0"/>
              <a:t>How we coordinated</a:t>
            </a:r>
          </a:p>
          <a:p>
            <a:r>
              <a:rPr lang="en-AU" b="1" dirty="0"/>
              <a:t>Working rhythm and evolution</a:t>
            </a:r>
          </a:p>
          <a:p>
            <a:pPr lvl="1"/>
            <a:r>
              <a:rPr lang="en-AU" dirty="0"/>
              <a:t>Sprint 1: </a:t>
            </a:r>
          </a:p>
          <a:p>
            <a:pPr lvl="1"/>
            <a:r>
              <a:rPr lang="en-AU" dirty="0"/>
              <a:t>Sprint 2:</a:t>
            </a:r>
          </a:p>
          <a:p>
            <a:pPr lvl="1"/>
            <a:r>
              <a:rPr lang="en-AU" dirty="0"/>
              <a:t>Sprint 3:</a:t>
            </a:r>
          </a:p>
          <a:p>
            <a:pPr lvl="1"/>
            <a:r>
              <a:rPr lang="en-AU" dirty="0"/>
              <a:t>Sprint 4:</a:t>
            </a:r>
          </a:p>
        </p:txBody>
      </p:sp>
      <p:sp>
        <p:nvSpPr>
          <p:cNvPr id="2" name="Content Placeholder 1">
            <a:extLst>
              <a:ext uri="{FF2B5EF4-FFF2-40B4-BE49-F238E27FC236}">
                <a16:creationId xmlns:a16="http://schemas.microsoft.com/office/drawing/2014/main" id="{94CBB475-CC48-973B-6341-72A1779B80EB}"/>
              </a:ext>
            </a:extLst>
          </p:cNvPr>
          <p:cNvSpPr>
            <a:spLocks noGrp="1"/>
          </p:cNvSpPr>
          <p:nvPr>
            <p:ph sz="half" idx="2"/>
          </p:nvPr>
        </p:nvSpPr>
        <p:spPr>
          <a:xfrm>
            <a:off x="5918437" y="1984461"/>
            <a:ext cx="4754880" cy="4023360"/>
          </a:xfrm>
        </p:spPr>
        <p:txBody>
          <a:bodyPr>
            <a:normAutofit/>
          </a:bodyPr>
          <a:lstStyle/>
          <a:p>
            <a:r>
              <a:rPr lang="en-AU" b="1" dirty="0"/>
              <a:t>Strengths</a:t>
            </a:r>
          </a:p>
          <a:p>
            <a:r>
              <a:rPr lang="en-AU" b="1" dirty="0"/>
              <a:t>Limitations and trade-offs</a:t>
            </a:r>
          </a:p>
          <a:p>
            <a:r>
              <a:rPr lang="en-AU" b="1" dirty="0"/>
              <a:t>Professional mindset</a:t>
            </a:r>
          </a:p>
        </p:txBody>
      </p:sp>
    </p:spTree>
    <p:extLst>
      <p:ext uri="{BB962C8B-B14F-4D97-AF65-F5344CB8AC3E}">
        <p14:creationId xmlns:p14="http://schemas.microsoft.com/office/powerpoint/2010/main" val="1841487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5C7456-2FEC-507F-A32E-611A9A850415}"/>
              </a:ext>
            </a:extLst>
          </p:cNvPr>
          <p:cNvSpPr>
            <a:spLocks noGrp="1"/>
          </p:cNvSpPr>
          <p:nvPr>
            <p:ph type="title"/>
          </p:nvPr>
        </p:nvSpPr>
        <p:spPr/>
        <p:txBody>
          <a:bodyPr>
            <a:normAutofit/>
          </a:bodyPr>
          <a:lstStyle/>
          <a:p>
            <a:r>
              <a:rPr lang="en-AU" dirty="0"/>
              <a:t>Development Approach and Key Technical Decisions</a:t>
            </a:r>
          </a:p>
        </p:txBody>
      </p:sp>
      <p:sp>
        <p:nvSpPr>
          <p:cNvPr id="3" name="Content Placeholder 2">
            <a:extLst>
              <a:ext uri="{FF2B5EF4-FFF2-40B4-BE49-F238E27FC236}">
                <a16:creationId xmlns:a16="http://schemas.microsoft.com/office/drawing/2014/main" id="{E6D33495-B02F-30E3-B6E0-FBA7E7544235}"/>
              </a:ext>
            </a:extLst>
          </p:cNvPr>
          <p:cNvSpPr>
            <a:spLocks noGrp="1"/>
          </p:cNvSpPr>
          <p:nvPr>
            <p:ph sz="half" idx="1"/>
          </p:nvPr>
        </p:nvSpPr>
        <p:spPr/>
        <p:txBody>
          <a:bodyPr>
            <a:normAutofit/>
          </a:bodyPr>
          <a:lstStyle/>
          <a:p>
            <a:r>
              <a:rPr lang="en-AU" b="1" dirty="0"/>
              <a:t>Agile process we adopted</a:t>
            </a:r>
          </a:p>
          <a:p>
            <a:pPr lvl="1"/>
            <a:r>
              <a:rPr lang="en-AU" dirty="0"/>
              <a:t>Weekly Sprints</a:t>
            </a:r>
          </a:p>
          <a:p>
            <a:r>
              <a:rPr lang="en-AU" b="1" dirty="0"/>
              <a:t>Key technical decisions</a:t>
            </a:r>
          </a:p>
          <a:p>
            <a:pPr lvl="1"/>
            <a:r>
              <a:rPr lang="en-AU" dirty="0"/>
              <a:t>Mock data for stores</a:t>
            </a:r>
          </a:p>
          <a:p>
            <a:pPr lvl="1"/>
            <a:r>
              <a:rPr lang="en-AU" dirty="0"/>
              <a:t>Local DB </a:t>
            </a:r>
          </a:p>
          <a:p>
            <a:pPr lvl="1"/>
            <a:r>
              <a:rPr lang="en-AU" dirty="0"/>
              <a:t>AI recommendations </a:t>
            </a:r>
          </a:p>
          <a:p>
            <a:pPr lvl="1"/>
            <a:endParaRPr lang="en-AU" dirty="0"/>
          </a:p>
        </p:txBody>
      </p:sp>
      <p:sp>
        <p:nvSpPr>
          <p:cNvPr id="2" name="Content Placeholder 1">
            <a:extLst>
              <a:ext uri="{FF2B5EF4-FFF2-40B4-BE49-F238E27FC236}">
                <a16:creationId xmlns:a16="http://schemas.microsoft.com/office/drawing/2014/main" id="{DFCF0202-815D-2921-736A-9E1304A775DC}"/>
              </a:ext>
            </a:extLst>
          </p:cNvPr>
          <p:cNvSpPr>
            <a:spLocks noGrp="1"/>
          </p:cNvSpPr>
          <p:nvPr>
            <p:ph sz="half" idx="2"/>
          </p:nvPr>
        </p:nvSpPr>
        <p:spPr/>
        <p:txBody>
          <a:bodyPr>
            <a:normAutofit/>
          </a:bodyPr>
          <a:lstStyle/>
          <a:p>
            <a:r>
              <a:rPr lang="en-AU" b="1" dirty="0"/>
              <a:t>Strengths in context</a:t>
            </a:r>
          </a:p>
          <a:p>
            <a:r>
              <a:rPr lang="en-AU" b="1" dirty="0"/>
              <a:t>Limitations</a:t>
            </a:r>
          </a:p>
          <a:p>
            <a:r>
              <a:rPr lang="en-AU" b="1" dirty="0"/>
              <a:t>Trade-offs we accepted</a:t>
            </a:r>
          </a:p>
        </p:txBody>
      </p:sp>
    </p:spTree>
    <p:extLst>
      <p:ext uri="{BB962C8B-B14F-4D97-AF65-F5344CB8AC3E}">
        <p14:creationId xmlns:p14="http://schemas.microsoft.com/office/powerpoint/2010/main" val="1529057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E9BE10-5AED-1A57-CEF7-DF10E04F9695}"/>
              </a:ext>
            </a:extLst>
          </p:cNvPr>
          <p:cNvSpPr>
            <a:spLocks noGrp="1"/>
          </p:cNvSpPr>
          <p:nvPr>
            <p:ph type="title"/>
          </p:nvPr>
        </p:nvSpPr>
        <p:spPr/>
        <p:txBody>
          <a:bodyPr>
            <a:normAutofit/>
          </a:bodyPr>
          <a:lstStyle/>
          <a:p>
            <a:r>
              <a:rPr lang="en-AU" dirty="0"/>
              <a:t>Quality Across the System</a:t>
            </a:r>
          </a:p>
        </p:txBody>
      </p:sp>
      <p:sp>
        <p:nvSpPr>
          <p:cNvPr id="3" name="Content Placeholder 2">
            <a:extLst>
              <a:ext uri="{FF2B5EF4-FFF2-40B4-BE49-F238E27FC236}">
                <a16:creationId xmlns:a16="http://schemas.microsoft.com/office/drawing/2014/main" id="{069B3F31-C216-AAFC-4443-FC830AE8DC43}"/>
              </a:ext>
            </a:extLst>
          </p:cNvPr>
          <p:cNvSpPr>
            <a:spLocks noGrp="1"/>
          </p:cNvSpPr>
          <p:nvPr>
            <p:ph sz="half" idx="1"/>
          </p:nvPr>
        </p:nvSpPr>
        <p:spPr/>
        <p:txBody>
          <a:bodyPr>
            <a:normAutofit/>
          </a:bodyPr>
          <a:lstStyle/>
          <a:p>
            <a:r>
              <a:rPr lang="en-AU" b="1" dirty="0"/>
              <a:t>What “quality” meant for SmartSpend</a:t>
            </a:r>
          </a:p>
          <a:p>
            <a:pPr lvl="1"/>
            <a:r>
              <a:rPr lang="en-AU" dirty="0"/>
              <a:t>Beyond green tests: did the app help a real student decide faster and spend less?</a:t>
            </a:r>
          </a:p>
          <a:p>
            <a:r>
              <a:rPr lang="en-AU" b="1" dirty="0"/>
              <a:t>Human-centred practices we used</a:t>
            </a:r>
          </a:p>
          <a:p>
            <a:r>
              <a:rPr lang="en-AU" b="1" dirty="0"/>
              <a:t>Findings that changed the product</a:t>
            </a:r>
          </a:p>
        </p:txBody>
      </p:sp>
      <p:sp>
        <p:nvSpPr>
          <p:cNvPr id="2" name="Content Placeholder 1">
            <a:extLst>
              <a:ext uri="{FF2B5EF4-FFF2-40B4-BE49-F238E27FC236}">
                <a16:creationId xmlns:a16="http://schemas.microsoft.com/office/drawing/2014/main" id="{414F03FB-6795-6512-204C-0890324C1788}"/>
              </a:ext>
            </a:extLst>
          </p:cNvPr>
          <p:cNvSpPr>
            <a:spLocks noGrp="1"/>
          </p:cNvSpPr>
          <p:nvPr>
            <p:ph sz="half" idx="2"/>
          </p:nvPr>
        </p:nvSpPr>
        <p:spPr/>
        <p:txBody>
          <a:bodyPr>
            <a:normAutofit/>
          </a:bodyPr>
          <a:lstStyle/>
          <a:p>
            <a:r>
              <a:rPr lang="en-AU" b="1" dirty="0"/>
              <a:t>How HCD shaped quality</a:t>
            </a:r>
          </a:p>
          <a:p>
            <a:r>
              <a:rPr lang="en-AU" b="1" dirty="0"/>
              <a:t>Limitations of our evaluation</a:t>
            </a:r>
          </a:p>
          <a:p>
            <a:r>
              <a:rPr lang="en-AU" b="1" dirty="0"/>
              <a:t>Quality as a system</a:t>
            </a:r>
          </a:p>
        </p:txBody>
      </p:sp>
    </p:spTree>
    <p:extLst>
      <p:ext uri="{BB962C8B-B14F-4D97-AF65-F5344CB8AC3E}">
        <p14:creationId xmlns:p14="http://schemas.microsoft.com/office/powerpoint/2010/main" val="155073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E6F5B1-C9AB-1B34-D60C-1987B05AC4F0}"/>
              </a:ext>
            </a:extLst>
          </p:cNvPr>
          <p:cNvSpPr>
            <a:spLocks noGrp="1"/>
          </p:cNvSpPr>
          <p:nvPr>
            <p:ph type="title"/>
          </p:nvPr>
        </p:nvSpPr>
        <p:spPr/>
        <p:txBody>
          <a:bodyPr>
            <a:normAutofit/>
          </a:bodyPr>
          <a:lstStyle/>
          <a:p>
            <a:r>
              <a:rPr lang="en-AU" dirty="0"/>
              <a:t>Key Lessons and Professional Insights</a:t>
            </a:r>
          </a:p>
        </p:txBody>
      </p:sp>
      <p:sp>
        <p:nvSpPr>
          <p:cNvPr id="3" name="Content Placeholder 2">
            <a:extLst>
              <a:ext uri="{FF2B5EF4-FFF2-40B4-BE49-F238E27FC236}">
                <a16:creationId xmlns:a16="http://schemas.microsoft.com/office/drawing/2014/main" id="{7C8B5CF0-A57E-08A9-E325-6EB04729C0B3}"/>
              </a:ext>
            </a:extLst>
          </p:cNvPr>
          <p:cNvSpPr>
            <a:spLocks noGrp="1"/>
          </p:cNvSpPr>
          <p:nvPr>
            <p:ph sz="half" idx="1"/>
          </p:nvPr>
        </p:nvSpPr>
        <p:spPr/>
        <p:txBody>
          <a:bodyPr>
            <a:normAutofit/>
          </a:bodyPr>
          <a:lstStyle/>
          <a:p>
            <a:r>
              <a:rPr lang="en-AU" b="1" dirty="0"/>
              <a:t>What worked</a:t>
            </a:r>
          </a:p>
          <a:p>
            <a:r>
              <a:rPr lang="en-AU" b="1" dirty="0"/>
              <a:t>What was challenging</a:t>
            </a:r>
          </a:p>
          <a:p>
            <a:pPr lvl="1"/>
            <a:r>
              <a:rPr lang="en-AU" dirty="0"/>
              <a:t>Estimating reliably when team availability fluctuated week to week.</a:t>
            </a:r>
          </a:p>
        </p:txBody>
      </p:sp>
      <p:sp>
        <p:nvSpPr>
          <p:cNvPr id="2" name="Content Placeholder 1">
            <a:extLst>
              <a:ext uri="{FF2B5EF4-FFF2-40B4-BE49-F238E27FC236}">
                <a16:creationId xmlns:a16="http://schemas.microsoft.com/office/drawing/2014/main" id="{86844BC1-5DAE-7E22-C6DE-2029D5085164}"/>
              </a:ext>
            </a:extLst>
          </p:cNvPr>
          <p:cNvSpPr>
            <a:spLocks noGrp="1"/>
          </p:cNvSpPr>
          <p:nvPr>
            <p:ph sz="half" idx="2"/>
          </p:nvPr>
        </p:nvSpPr>
        <p:spPr/>
        <p:txBody>
          <a:bodyPr>
            <a:normAutofit/>
          </a:bodyPr>
          <a:lstStyle/>
          <a:p>
            <a:r>
              <a:rPr lang="en-AU" b="1" dirty="0"/>
              <a:t>What we’d carry forward</a:t>
            </a:r>
          </a:p>
          <a:p>
            <a:r>
              <a:rPr lang="en-AU" b="1" dirty="0"/>
              <a:t>What we’d reconsider</a:t>
            </a:r>
          </a:p>
          <a:p>
            <a:pPr lvl="1"/>
            <a:r>
              <a:rPr lang="en-AU" dirty="0"/>
              <a:t>Smaller more frequent user touchpoints over one large testing round.</a:t>
            </a:r>
          </a:p>
          <a:p>
            <a:pPr lvl="1"/>
            <a:r>
              <a:rPr lang="en-AU" dirty="0"/>
              <a:t>Investing earlier in real data, mock data limited what we could meaningfully evaluate.</a:t>
            </a:r>
          </a:p>
          <a:p>
            <a:r>
              <a:rPr lang="en-AU" b="1" dirty="0"/>
              <a:t>Professional insight</a:t>
            </a:r>
          </a:p>
        </p:txBody>
      </p:sp>
    </p:spTree>
    <p:extLst>
      <p:ext uri="{BB962C8B-B14F-4D97-AF65-F5344CB8AC3E}">
        <p14:creationId xmlns:p14="http://schemas.microsoft.com/office/powerpoint/2010/main" val="626370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9348A4-7F1A-E092-E79B-0712CD691F58}"/>
              </a:ext>
            </a:extLst>
          </p:cNvPr>
          <p:cNvSpPr>
            <a:spLocks noGrp="1"/>
          </p:cNvSpPr>
          <p:nvPr>
            <p:ph type="title"/>
          </p:nvPr>
        </p:nvSpPr>
        <p:spPr/>
        <p:txBody>
          <a:bodyPr>
            <a:normAutofit/>
          </a:bodyPr>
          <a:lstStyle/>
          <a:p>
            <a:r>
              <a:rPr lang="en-AU" dirty="0"/>
              <a:t>Task Distribution &amp; Q&amp;A</a:t>
            </a:r>
          </a:p>
        </p:txBody>
      </p:sp>
      <p:sp>
        <p:nvSpPr>
          <p:cNvPr id="3" name="Content Placeholder 2">
            <a:extLst>
              <a:ext uri="{FF2B5EF4-FFF2-40B4-BE49-F238E27FC236}">
                <a16:creationId xmlns:a16="http://schemas.microsoft.com/office/drawing/2014/main" id="{4B7DB73C-67E4-2CCE-E9DF-9687686F47DD}"/>
              </a:ext>
            </a:extLst>
          </p:cNvPr>
          <p:cNvSpPr>
            <a:spLocks noGrp="1"/>
          </p:cNvSpPr>
          <p:nvPr>
            <p:ph sz="half" idx="1"/>
          </p:nvPr>
        </p:nvSpPr>
        <p:spPr/>
        <p:txBody>
          <a:bodyPr>
            <a:normAutofit/>
          </a:bodyPr>
          <a:lstStyle/>
          <a:p>
            <a:r>
              <a:rPr lang="en-AU" b="1" dirty="0"/>
              <a:t>[Jeffrey Chan</a:t>
            </a:r>
          </a:p>
          <a:p>
            <a:r>
              <a:rPr lang="en-AU" b="1" dirty="0"/>
              <a:t>Haiden Williams</a:t>
            </a:r>
          </a:p>
          <a:p>
            <a:r>
              <a:rPr lang="en-AU" b="1" dirty="0"/>
              <a:t>Eric Rizki</a:t>
            </a:r>
          </a:p>
          <a:p>
            <a:r>
              <a:rPr lang="en-AU" b="1" dirty="0"/>
              <a:t>Pranav Sharma</a:t>
            </a:r>
          </a:p>
          <a:p>
            <a:r>
              <a:rPr lang="en-AU" b="1" dirty="0"/>
              <a:t>Kevin Yu</a:t>
            </a:r>
          </a:p>
        </p:txBody>
      </p:sp>
      <p:sp>
        <p:nvSpPr>
          <p:cNvPr id="2" name="Content Placeholder 1">
            <a:extLst>
              <a:ext uri="{FF2B5EF4-FFF2-40B4-BE49-F238E27FC236}">
                <a16:creationId xmlns:a16="http://schemas.microsoft.com/office/drawing/2014/main" id="{E177D17F-7730-2D42-E710-62C5A86A5AF6}"/>
              </a:ext>
            </a:extLst>
          </p:cNvPr>
          <p:cNvSpPr>
            <a:spLocks noGrp="1"/>
          </p:cNvSpPr>
          <p:nvPr>
            <p:ph sz="half" idx="2"/>
          </p:nvPr>
        </p:nvSpPr>
        <p:spPr/>
        <p:txBody>
          <a:bodyPr>
            <a:normAutofit/>
          </a:bodyPr>
          <a:lstStyle/>
          <a:p>
            <a:r>
              <a:rPr lang="en-AU" b="1" dirty="0"/>
              <a:t>Happy to discuss</a:t>
            </a:r>
          </a:p>
          <a:p>
            <a:r>
              <a:rPr lang="en-AU" b="1" dirty="0"/>
              <a:t>Project artefacts</a:t>
            </a:r>
          </a:p>
          <a:p>
            <a:pPr lvl="1"/>
            <a:r>
              <a:rPr lang="en-AU" dirty="0"/>
              <a:t>GitHub repository: </a:t>
            </a:r>
          </a:p>
          <a:p>
            <a:pPr lvl="1"/>
            <a:r>
              <a:rPr lang="en-AU" dirty="0"/>
              <a:t>Jira board: </a:t>
            </a:r>
          </a:p>
          <a:p>
            <a:pPr lvl="1"/>
            <a:r>
              <a:rPr lang="en-AU" dirty="0"/>
              <a:t>Google Docs</a:t>
            </a:r>
          </a:p>
        </p:txBody>
      </p:sp>
    </p:spTree>
    <p:extLst>
      <p:ext uri="{BB962C8B-B14F-4D97-AF65-F5344CB8AC3E}">
        <p14:creationId xmlns:p14="http://schemas.microsoft.com/office/powerpoint/2010/main" val="1774273894"/>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image" Target="../media/image7.jpeg"/></Relationships>
</file>

<file path=ppt/theme/theme1.xml><?xml version="1.0" encoding="utf-8"?>
<a:theme xmlns:a="http://schemas.openxmlformats.org/drawingml/2006/main" name="QUT title page">
  <a:themeElements>
    <a:clrScheme name="QUT 2025">
      <a:dk1>
        <a:srgbClr val="14265E"/>
      </a:dk1>
      <a:lt1>
        <a:srgbClr val="FFFFFF"/>
      </a:lt1>
      <a:dk2>
        <a:srgbClr val="24449A"/>
      </a:dk2>
      <a:lt2>
        <a:srgbClr val="F2EDE5"/>
      </a:lt2>
      <a:accent1>
        <a:srgbClr val="6C98C7"/>
      </a:accent1>
      <a:accent2>
        <a:srgbClr val="8CC7EA"/>
      </a:accent2>
      <a:accent3>
        <a:srgbClr val="65C5E9"/>
      </a:accent3>
      <a:accent4>
        <a:srgbClr val="D3EFFC"/>
      </a:accent4>
      <a:accent5>
        <a:srgbClr val="000869"/>
      </a:accent5>
      <a:accent6>
        <a:srgbClr val="24449A"/>
      </a:accent6>
      <a:hlink>
        <a:srgbClr val="24449A"/>
      </a:hlink>
      <a:folHlink>
        <a:srgbClr val="0A15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T_PowerPoint Template_v03" id="{1E68C1F8-9D67-B943-94A4-8BC4A63BC493}" vid="{6736A521-9E77-714E-A742-28E34C846D18}"/>
    </a:ext>
  </a:extLst>
</a:theme>
</file>

<file path=ppt/theme/theme2.xml><?xml version="1.0" encoding="utf-8"?>
<a:theme xmlns:a="http://schemas.openxmlformats.org/drawingml/2006/main" name="Custom Design">
  <a:themeElements>
    <a:clrScheme name="QUT 2025">
      <a:dk1>
        <a:srgbClr val="14265E"/>
      </a:dk1>
      <a:lt1>
        <a:srgbClr val="FFFFFF"/>
      </a:lt1>
      <a:dk2>
        <a:srgbClr val="24449A"/>
      </a:dk2>
      <a:lt2>
        <a:srgbClr val="F2EDE5"/>
      </a:lt2>
      <a:accent1>
        <a:srgbClr val="6C98C7"/>
      </a:accent1>
      <a:accent2>
        <a:srgbClr val="8CC7EA"/>
      </a:accent2>
      <a:accent3>
        <a:srgbClr val="65C5E9"/>
      </a:accent3>
      <a:accent4>
        <a:srgbClr val="D3EFFC"/>
      </a:accent4>
      <a:accent5>
        <a:srgbClr val="000869"/>
      </a:accent5>
      <a:accent6>
        <a:srgbClr val="24449A"/>
      </a:accent6>
      <a:hlink>
        <a:srgbClr val="24449A"/>
      </a:hlink>
      <a:folHlink>
        <a:srgbClr val="0A15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UT_PowerPoint Template_v03" id="{1E68C1F8-9D67-B943-94A4-8BC4A63BC493}" vid="{85CA6E3B-1554-5C4E-8DE0-131D52536820}"/>
    </a:ext>
  </a:extLst>
</a:theme>
</file>

<file path=ppt/theme/theme3.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4.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ideoContents xmlns="596cf5bd-21dc-4a72-81c0-3899bd9bd868" xsi:nil="true"/>
    <lcf76f155ced4ddcb4097134ff3c332f xmlns="596cf5bd-21dc-4a72-81c0-3899bd9bd868">
      <Terms xmlns="http://schemas.microsoft.com/office/infopath/2007/PartnerControls"/>
    </lcf76f155ced4ddcb4097134ff3c332f>
    <TaxCatchAll xmlns="a018154b-166b-4a1b-8dfd-b64a94e6b0d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B8C36236A7794DA05641B5C1417AC6" ma:contentTypeVersion="15" ma:contentTypeDescription="Create a new document." ma:contentTypeScope="" ma:versionID="7a0d5e963acb2d4916ff4f86f0c92dac">
  <xsd:schema xmlns:xsd="http://www.w3.org/2001/XMLSchema" xmlns:xs="http://www.w3.org/2001/XMLSchema" xmlns:p="http://schemas.microsoft.com/office/2006/metadata/properties" xmlns:ns2="596cf5bd-21dc-4a72-81c0-3899bd9bd868" xmlns:ns3="a018154b-166b-4a1b-8dfd-b64a94e6b0da" targetNamespace="http://schemas.microsoft.com/office/2006/metadata/properties" ma:root="true" ma:fieldsID="51aa0c6c0789e7831d5ebd894809b6b9" ns2:_="" ns3:_="">
    <xsd:import namespace="596cf5bd-21dc-4a72-81c0-3899bd9bd868"/>
    <xsd:import namespace="a018154b-166b-4a1b-8dfd-b64a94e6b0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VideoCont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6cf5bd-21dc-4a72-81c0-3899bd9bd8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b38a4a9-7397-48a1-b74f-79de11e99f1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VideoContents" ma:index="22" nillable="true" ma:displayName="Video Contents" ma:description="Description of video purpose" ma:format="Dropdown" ma:internalName="VideoCont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018154b-166b-4a1b-8dfd-b64a94e6b0d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1c84ee0-797c-4faf-9736-7d447eace787}" ma:internalName="TaxCatchAll" ma:showField="CatchAllData" ma:web="a018154b-166b-4a1b-8dfd-b64a94e6b0da">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9F0A16-D915-4611-A39C-4796DEB1FB56}">
  <ds:schemaRefs>
    <ds:schemaRef ds:uri="http://purl.org/dc/terms/"/>
    <ds:schemaRef ds:uri="http://schemas.microsoft.com/office/infopath/2007/PartnerControls"/>
    <ds:schemaRef ds:uri="http://schemas.microsoft.com/office/2006/metadata/properties"/>
    <ds:schemaRef ds:uri="07ef76e7-57fb-44c7-add5-4a78842c8a06"/>
    <ds:schemaRef ds:uri="http://schemas.microsoft.com/office/2006/documentManagement/types"/>
    <ds:schemaRef ds:uri="http://www.w3.org/XML/1998/namespace"/>
    <ds:schemaRef ds:uri="http://purl.org/dc/dcmitype/"/>
    <ds:schemaRef ds:uri="http://schemas.openxmlformats.org/package/2006/metadata/core-properties"/>
    <ds:schemaRef ds:uri="http://purl.org/dc/elements/1.1/"/>
    <ds:schemaRef ds:uri="596cf5bd-21dc-4a72-81c0-3899bd9bd868"/>
    <ds:schemaRef ds:uri="a018154b-166b-4a1b-8dfd-b64a94e6b0da"/>
  </ds:schemaRefs>
</ds:datastoreItem>
</file>

<file path=customXml/itemProps2.xml><?xml version="1.0" encoding="utf-8"?>
<ds:datastoreItem xmlns:ds="http://schemas.openxmlformats.org/officeDocument/2006/customXml" ds:itemID="{762EDA98-78BE-4A2F-AF2E-3FB55CC722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6cf5bd-21dc-4a72-81c0-3899bd9bd868"/>
    <ds:schemaRef ds:uri="a018154b-166b-4a1b-8dfd-b64a94e6b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20736A-7DCA-4606-8826-26B1ADA65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QUT_PowerPoint Template_v03</Template>
  <TotalTime>47</TotalTime>
  <Words>1014</Words>
  <Application>Microsoft Office PowerPoint</Application>
  <PresentationFormat>Widescreen</PresentationFormat>
  <Paragraphs>112</Paragraphs>
  <Slides>7</Slides>
  <Notes>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7</vt:i4>
      </vt:variant>
    </vt:vector>
  </HeadingPairs>
  <TitlesOfParts>
    <vt:vector size="19" baseType="lpstr">
      <vt:lpstr>Aptos Light</vt:lpstr>
      <vt:lpstr>Arial</vt:lpstr>
      <vt:lpstr>Calibri</vt:lpstr>
      <vt:lpstr>Gill Sans MT</vt:lpstr>
      <vt:lpstr>Tw Cen MT</vt:lpstr>
      <vt:lpstr>Tw Cen MT Condensed</vt:lpstr>
      <vt:lpstr>Wingdings 2</vt:lpstr>
      <vt:lpstr>Wingdings 3</vt:lpstr>
      <vt:lpstr>QUT title page</vt:lpstr>
      <vt:lpstr>Custom Design</vt:lpstr>
      <vt:lpstr>Integral</vt:lpstr>
      <vt:lpstr>Dividend</vt:lpstr>
      <vt:lpstr>SmartSpend</vt:lpstr>
      <vt:lpstr>The Problem, the Users, and the Purpose</vt:lpstr>
      <vt:lpstr>How We Worked as a Team</vt:lpstr>
      <vt:lpstr>Development Approach and Key Technical Decisions</vt:lpstr>
      <vt:lpstr>Quality Across the System</vt:lpstr>
      <vt:lpstr>Key Lessons and Professional Insights</vt:lpstr>
      <vt:lpstr>Task Distribution &amp; 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Alessandro Soro</dc:creator>
  <cp:keywords/>
  <dc:description/>
  <cp:lastModifiedBy>Pranav Sharma</cp:lastModifiedBy>
  <cp:revision>3</cp:revision>
  <dcterms:created xsi:type="dcterms:W3CDTF">2026-04-28T06:27:43Z</dcterms:created>
  <dcterms:modified xsi:type="dcterms:W3CDTF">2026-05-18T12:17:10Z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0x01010098B8C36236A7794DA05641B5C1417AC6</vt:lpwstr>
  </property>
  <property fmtid="{D5CDD505-2E9C-101B-9397-08002B2CF9AE}" pid="3" name="MediaServiceImageTags">
    <vt:lpwstr/>
  </property>
</Properties>
</file>